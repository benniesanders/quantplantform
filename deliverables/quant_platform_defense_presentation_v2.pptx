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0968b6e7ee44f1" /><Relationship Type="http://schemas.openxmlformats.org/officeDocument/2006/relationships/extended-properties" Target="/docProps/app.xml" Id="R54dd743680184758" /><Relationship Type="http://schemas.openxmlformats.org/officeDocument/2006/relationships/officeDocument" Target="/ppt/presentation.xml" Id="R4fd641241bc1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d931ecd1cb422a"/>
  </p:sldMasterIdLst>
  <p:notesMasterIdLst>
    <p:notesMasterId xmlns:r="http://schemas.openxmlformats.org/officeDocument/2006/relationships" r:id="R2e8c22a2010443ad"/>
  </p:notesMasterIdLst>
  <p:sldIdLst>
    <p:sldId xmlns:r="http://schemas.openxmlformats.org/officeDocument/2006/relationships" id="256" r:id="R57c9c4e3bd534761"/>
    <p:sldId xmlns:r="http://schemas.openxmlformats.org/officeDocument/2006/relationships" id="257" r:id="Rbd3d6bb31d5b498e"/>
    <p:sldId xmlns:r="http://schemas.openxmlformats.org/officeDocument/2006/relationships" id="258" r:id="Rb96d7c6d20544fe9"/>
    <p:sldId xmlns:r="http://schemas.openxmlformats.org/officeDocument/2006/relationships" id="259" r:id="Rc3167a738c5a4491"/>
    <p:sldId xmlns:r="http://schemas.openxmlformats.org/officeDocument/2006/relationships" id="260" r:id="R03f38724ff9d4c65"/>
    <p:sldId xmlns:r="http://schemas.openxmlformats.org/officeDocument/2006/relationships" id="261" r:id="R42150a0d945644a7"/>
    <p:sldId xmlns:r="http://schemas.openxmlformats.org/officeDocument/2006/relationships" id="262" r:id="Rc459e6b6415847f0"/>
    <p:sldId xmlns:r="http://schemas.openxmlformats.org/officeDocument/2006/relationships" id="263" r:id="Rdfdfac504703458c"/>
    <p:sldId xmlns:r="http://schemas.openxmlformats.org/officeDocument/2006/relationships" id="264" r:id="R73bde7927ed64c0a"/>
    <p:sldId xmlns:r="http://schemas.openxmlformats.org/officeDocument/2006/relationships" id="265" r:id="R4f98ea2af0d04e53"/>
    <p:sldId xmlns:r="http://schemas.openxmlformats.org/officeDocument/2006/relationships" id="266" r:id="R8260f397ecd34ed0"/>
    <p:sldId xmlns:r="http://schemas.openxmlformats.org/officeDocument/2006/relationships" id="267" r:id="Rdd49c42324af45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0b11178cc54264" /><Relationship Type="http://schemas.openxmlformats.org/officeDocument/2006/relationships/slideMaster" Target="/ppt/slideMasters/slideMaster1.xml" Id="R11d931ecd1cb422a" /><Relationship Type="http://schemas.openxmlformats.org/officeDocument/2006/relationships/notesMaster" Target="/ppt/notesMasters/notesMaster1.xml" Id="R2e8c22a2010443ad" /><Relationship Type="http://schemas.openxmlformats.org/officeDocument/2006/relationships/presProps" Target="/ppt/presProps.xml" Id="Rf24bab8a290c4471" /><Relationship Type="http://schemas.openxmlformats.org/officeDocument/2006/relationships/viewProps" Target="/ppt/viewProps.xml" Id="R887b2d3464c34c9f" /><Relationship Type="http://schemas.openxmlformats.org/officeDocument/2006/relationships/tableStyles" Target="/ppt/tableStyles.xml" Id="Rc3cde5f6d09a4528" /><Relationship Type="http://schemas.openxmlformats.org/officeDocument/2006/relationships/slide" Target="/ppt/slides/slide1.xml" Id="R57c9c4e3bd534761" /><Relationship Type="http://schemas.openxmlformats.org/officeDocument/2006/relationships/slide" Target="/ppt/slides/slide2.xml" Id="Rbd3d6bb31d5b498e" /><Relationship Type="http://schemas.openxmlformats.org/officeDocument/2006/relationships/slide" Target="/ppt/slides/slide3.xml" Id="Rb96d7c6d20544fe9" /><Relationship Type="http://schemas.openxmlformats.org/officeDocument/2006/relationships/slide" Target="/ppt/slides/slide4.xml" Id="Rc3167a738c5a4491" /><Relationship Type="http://schemas.openxmlformats.org/officeDocument/2006/relationships/slide" Target="/ppt/slides/slide5.xml" Id="R03f38724ff9d4c65" /><Relationship Type="http://schemas.openxmlformats.org/officeDocument/2006/relationships/slide" Target="/ppt/slides/slide6.xml" Id="R42150a0d945644a7" /><Relationship Type="http://schemas.openxmlformats.org/officeDocument/2006/relationships/slide" Target="/ppt/slides/slide7.xml" Id="Rc459e6b6415847f0" /><Relationship Type="http://schemas.openxmlformats.org/officeDocument/2006/relationships/slide" Target="/ppt/slides/slide8.xml" Id="Rdfdfac504703458c" /><Relationship Type="http://schemas.openxmlformats.org/officeDocument/2006/relationships/slide" Target="/ppt/slides/slide9.xml" Id="R73bde7927ed64c0a" /><Relationship Type="http://schemas.openxmlformats.org/officeDocument/2006/relationships/slide" Target="/ppt/slides/slide10.xml" Id="R4f98ea2af0d04e53" /><Relationship Type="http://schemas.openxmlformats.org/officeDocument/2006/relationships/slide" Target="/ppt/slides/slide11.xml" Id="R8260f397ecd34ed0" /><Relationship Type="http://schemas.openxmlformats.org/officeDocument/2006/relationships/slide" Target="/ppt/slides/slide12.xml" Id="Rdd49c42324af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5ff929df2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31e9cb9214916" /><Relationship Type="http://schemas.openxmlformats.org/officeDocument/2006/relationships/notesMaster" Target="/ppt/notesMasters/notesMaster1.xml" Id="R9ada2dda6e65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87696a83d74ba4" /><Relationship Type="http://schemas.openxmlformats.org/officeDocument/2006/relationships/notesMaster" Target="/ppt/notesMasters/notesMaster1.xml" Id="Rb3d6d6dbb937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68897f7c654a6a" /><Relationship Type="http://schemas.openxmlformats.org/officeDocument/2006/relationships/notesMaster" Target="/ppt/notesMasters/notesMaster1.xml" Id="R7d07d7f3aa40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86b41ca9774e68" /><Relationship Type="http://schemas.openxmlformats.org/officeDocument/2006/relationships/notesMaster" Target="/ppt/notesMasters/notesMaster1.xml" Id="Ra4d004b9cce345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3dd32a017443e1" /><Relationship Type="http://schemas.openxmlformats.org/officeDocument/2006/relationships/notesMaster" Target="/ppt/notesMasters/notesMaster1.xml" Id="R1e3662cc5b9f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c517e4cc24401" /><Relationship Type="http://schemas.openxmlformats.org/officeDocument/2006/relationships/notesMaster" Target="/ppt/notesMasters/notesMaster1.xml" Id="Rb2cc359f22774d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7d4f851a334c71" /><Relationship Type="http://schemas.openxmlformats.org/officeDocument/2006/relationships/notesMaster" Target="/ppt/notesMasters/notesMaster1.xml" Id="R17d2383faea747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94444a307c477a" /><Relationship Type="http://schemas.openxmlformats.org/officeDocument/2006/relationships/notesMaster" Target="/ppt/notesMasters/notesMaster1.xml" Id="Rfa0b3f0c8ba74a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2b28ad0bc34a89" /><Relationship Type="http://schemas.openxmlformats.org/officeDocument/2006/relationships/notesMaster" Target="/ppt/notesMasters/notesMaster1.xml" Id="R4883c49794584e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c8ba849a7841b8" /><Relationship Type="http://schemas.openxmlformats.org/officeDocument/2006/relationships/notesMaster" Target="/ppt/notesMasters/notesMaster1.xml" Id="R470be0ff666a47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f1b0d40d54b9a" /><Relationship Type="http://schemas.openxmlformats.org/officeDocument/2006/relationships/notesMaster" Target="/ppt/notesMasters/notesMaster1.xml" Id="R8106ce75783248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6c6d499a77458a" /><Relationship Type="http://schemas.openxmlformats.org/officeDocument/2006/relationships/notesMaster" Target="/ppt/notesMasters/notesMaster1.xml" Id="R505ad6184c3e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075eb9ba249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2f870f4874006" /><Relationship Type="http://schemas.openxmlformats.org/officeDocument/2006/relationships/slideLayout" Target="/ppt/slideLayouts/slideLayout1.xml" Id="R98b4eba8c1744a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4eba8c1744a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5f3efe5148d0" /><Relationship Type="http://schemas.openxmlformats.org/officeDocument/2006/relationships/notesSlide" Target="/ppt/notesSlides/notesSlide1.xml" Id="Rbd2e053c18d0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88a156b14b11" /><Relationship Type="http://schemas.openxmlformats.org/officeDocument/2006/relationships/notesSlide" Target="/ppt/notesSlides/notesSlide2.xml" Id="Rea02afcd0620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f5dae99f415d" /><Relationship Type="http://schemas.openxmlformats.org/officeDocument/2006/relationships/notesSlide" Target="/ppt/notesSlides/notesSlide3.xml" Id="Ra58e7847cdd0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caf0c1b234c53" /><Relationship Type="http://schemas.openxmlformats.org/officeDocument/2006/relationships/notesSlide" Target="/ppt/notesSlides/notesSlide4.xml" Id="Ref9f9d520c79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41a8f5b3f4291" /><Relationship Type="http://schemas.openxmlformats.org/officeDocument/2006/relationships/notesSlide" Target="/ppt/notesSlides/notesSlide5.xml" Id="R20ede3909d84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41289cea84d31" /><Relationship Type="http://schemas.openxmlformats.org/officeDocument/2006/relationships/notesSlide" Target="/ppt/notesSlides/notesSlide6.xml" Id="Rdc26eb7f902c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fcd568a247ca" /><Relationship Type="http://schemas.openxmlformats.org/officeDocument/2006/relationships/notesSlide" Target="/ppt/notesSlides/notesSlide7.xml" Id="R9f8f7f810c4a4c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a20cb3dc484e" /><Relationship Type="http://schemas.openxmlformats.org/officeDocument/2006/relationships/notesSlide" Target="/ppt/notesSlides/notesSlide8.xml" Id="Rc90f3a0bf32647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720da0f644e8e" /><Relationship Type="http://schemas.openxmlformats.org/officeDocument/2006/relationships/notesSlide" Target="/ppt/notesSlides/notesSlide9.xml" Id="Ref93433e22784a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df3c7a3d74839" /><Relationship Type="http://schemas.openxmlformats.org/officeDocument/2006/relationships/notesSlide" Target="/ppt/notesSlides/notesSlide10.xml" Id="R021807145f94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b5805ee804f06" /><Relationship Type="http://schemas.openxmlformats.org/officeDocument/2006/relationships/notesSlide" Target="/ppt/notesSlides/notesSlide11.xml" Id="R2ab0bd9aa8e7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d3d9a1eb4a07" /><Relationship Type="http://schemas.openxmlformats.org/officeDocument/2006/relationships/notesSlide" Target="/ppt/notesSlides/notesSlide12.xml" Id="Rdcd6db6cd6ce4f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AC1DF64-6224-47D7-9C04-CB29FC49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E47551-077E-45BF-A381-C8B8FBF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55A6AD-F645-43B9-9070-05617081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COURSE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65116-0D01-408A-9AFD-F5901C6E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810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基于实时行情与大语言模型的</a:t>
            </a:r>
          </a:p>
          <a:p xmlns:a="http://schemas.openxmlformats.org/drawingml/2006/main">
            <a:pPr algn="l">
              <a:defRPr sz="4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量化回测平台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6583F-AE94-459A-A6C9-65C6C01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课程项目设计与实现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94D4B-941A-4CCB-A9DA-2A32048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把行情、回测与解释连接成一个可复现的研究闭环。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BFEB-E268-4786-9FE8-9D4E332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81050"/>
            <a:ext cx="2552700" cy="42100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06843-A591-47E1-843E-DA2B5326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05727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PROJECT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7FB0D-2619-4C91-B155-8668EEF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3,992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AE736-384B-4B51-AFEB-25CB358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193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已存储 K 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69B53-1CDD-4A3D-B8A1-3C7579B7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597EC-A60A-4709-AE87-ABC510E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EA597-0BCF-4A94-8204-9436EAC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1934C-1B79-4B1B-867D-87A8F731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分析记录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CE377-4995-4498-AEB1-9041ED4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9100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0D4F0-C2EB-4380-BDD3-9C446EF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482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自动化测试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12137-C9BF-49C1-AC44-20DED74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98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BCC9A-587E-4933-AE85-D2A7D90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01  背景问题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91CEC-EF2E-4230-BAA8-6569E82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05500"/>
            <a:ext cx="198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9E0E5-5EA6-4BAE-A113-5F407474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5790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28A94"/>
                </a:solidFill>
                <a:latin typeface="Avenir Next"/>
                <a:ea typeface="Avenir Next"/>
                <a:cs typeface="Avenir Next"/>
              </a:defRPr>
            </a:pPr>
            <a:r>
              <a:t>02  核心技术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01D09-9759-4E0B-8331-6C01E50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05500"/>
            <a:ext cx="198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C967B-4E25-4213-9CF3-6C26040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05790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28A94"/>
                </a:solidFill>
                <a:latin typeface="Avenir Next"/>
                <a:ea typeface="Avenir Next"/>
                <a:cs typeface="Avenir Next"/>
              </a:defRPr>
            </a:pPr>
            <a:r>
              <a:t>03  功能实现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4AD81-7535-4A8A-B5F5-8D7414AC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05500"/>
            <a:ext cx="198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4"/>
          </a:solidFill>
          <a:ln xmlns:a="http://schemas.openxmlformats.org/drawingml/2006/main" w="0">
            <a:solidFill>
              <a:srgbClr val="294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062DC-AD60-423E-A016-6D7D82F7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5790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28A94"/>
                </a:solidFill>
                <a:latin typeface="Avenir Next"/>
                <a:ea typeface="Avenir Next"/>
                <a:cs typeface="Avenir Next"/>
              </a:defRPr>
            </a:pPr>
            <a:r>
              <a:t>04  验证总结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38EBB-63B9-4445-89DA-BF9DBE2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F724F-C2C8-4FCF-8C3B-FDAB1305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数据截至 2026-06-15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EA3EB-281E-40A2-ACD4-34262492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49039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76F7E3B-0D3B-411C-AFCC-7C99E9C8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6B07DC-1EC5-4466-9BED-55DE19CD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563ECC-58EF-419C-B552-4B561EB9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4194C-32EB-433E-B637-C1AEF6F5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个人量化研究的难点，不是缺少脚本，</a:t>
            </a:r>
          </a:p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而是三个环节彼此断开。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F8461-ED2C-4898-9B70-7AC73B59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3105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6B9AD-E61D-433A-975B-4B5FA5D6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5AA57-2E9D-41DF-961B-1EC9675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数据断点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29159-8D26-46D7-88AB-C48E45E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571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行情停留在历史文件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展示数据不进入回测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来源与更新时间不透明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EEEF9-57E6-4807-9DEC-F2ADC90F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71650"/>
            <a:ext cx="3105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7ECCB-0BA6-4124-90D4-7038A1EB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00250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D4818-94F9-4F76-933D-0E04A2A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33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回测断点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AED9A-1EB1-4760-B600-40B097D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2571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参数散落、结果难复现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执行时序容易引入未来数据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费用与风控被策略代码吞没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D16D7-C3F0-4EE2-961B-2C662550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3105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1427A-439E-4BA4-92F6-2369F89A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552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D0E6F-2648-4BB7-9E6D-412D0BE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解释断点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503ED-FD86-463B-A239-DECDD4E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571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只看收益率，忽略回撤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调参依赖主观经验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分析过程无法结构化留存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96607-4505-49A2-831C-5F7C719C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48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5A5A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49342-2934-4CD3-BEB1-3C9AAB32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5A5A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DDE0A-85E7-4692-A1A5-4D5A6F8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87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CD467-AE03-4D45-94F6-BA00BF48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055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本项目要修复的不是单点功能，而是数据、计算和解释之间的交接过程。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B8C87-3B3E-4023-BB26-AD1AC7FF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63E91-3E13-4DB8-954B-0BF9D32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来源：项目需求与实现文档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F7B4E-5207-4D1A-ABD5-21E98332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98961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0B9FE7B-E7DF-4690-9715-51A5234D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50AE6F-8D45-409B-8C68-2AD0BA5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E813E7-5E0B-483E-82C4-4BB1BCF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OBJECTIVES &amp;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41486-F286-4314-AAB9-0066787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项目目标是完成研究闭环，</a:t>
            </a:r>
          </a:p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同时控制课程范围。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86DE2-4EF5-427D-A91C-1D9E3F5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5524500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73DB8-59DC-4B94-85DE-3B025B6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四个必须完成的目标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6F98B-98D8-4189-A12C-9BB3461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CB40B-935F-485F-9059-AFFCB80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实时行情可拉取、可校验、可存储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953DC-0018-4A3F-9FE3-934FEEB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A1FD8-3A15-4CCE-AF95-E2D69B8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回测引擎可复现、无未来数据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6F74F-A582-4CDC-A5D8-F456D92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6FD13-F4B8-4F82-8F88-CEA1934E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输出结构化诊断与调参建议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F427A-2E81-47B1-9C18-AD0B581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62520-4941-42E5-8E55-27F7855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注册登录、一键启动、测试可验证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7DA05-4BE2-486F-9116-1EA9D060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范围边界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A1DF1-3B66-4C29-B1C1-763DDF2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C65A7-D562-403F-9845-452094C3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812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9C3E5-7946-427D-A23E-4E824A9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62225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本期纳入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1D785-B26A-4541-87BE-328D8FDF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28925"/>
            <a:ext cx="369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加密货币现货多头；BTC / ETH；1m 至 1d；内置与自定义策略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42E66-9400-4348-9B9C-C02AC47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7B7D3-AFEF-4E62-85EA-C65B9B2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909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BC36C-1FD3-4E09-AD58-3B826866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本期不纳入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0E7C3-4AF8-4E32-8AD6-D11C121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38575"/>
            <a:ext cx="3695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期货双向、美股、杠杆、实盘下单和生产级资金托管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B47CE-3A6B-4C4B-9294-80D8A9D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57750"/>
            <a:ext cx="42100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C1F2C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54EFA-3127-47DD-B9B6-C4050044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范围收敛的目的：把工程质量投入到核心闭环，而不是扩大资产类别。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6D923-0B3E-421A-8448-C2204A2F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F3A3CC-6415-40E6-876B-45F8111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课程项目范围定义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FDA26-1D81-4606-B101-268BBF70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43922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184CA3B-D59F-4E5B-A5E2-BB444313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9A24CB-D3C2-4B1B-B5C7-32A62E9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A6B804-33CC-4CF9-9C67-A1C96FAC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TECH STACK &amp;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60228-545C-4FB1-8D3A-F57C2C2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技术栈按职责分层，核心计算保持独立可测试。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6E776-A1BD-41D4-AD2E-3BACE65B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43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1592-3A34-4795-AFED-E470CEB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5BD20-3ED8-435A-BC92-FE64ECF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交互与可视化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62554-9ADE-482B-89E1-AFFD5555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943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Vue 3 · Vite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6ABCD-2AE7-4E48-91C7-49D8EA79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B95A-49C2-4AC3-ABFF-31D7A912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343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4BF1B-D6FD-400E-B55F-7256C49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9D20A-F60E-441B-94E9-131997D2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API 与鉴权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E063E-19AF-4F5E-B1EA-5C00273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1943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FastAPI · Pydantic ·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53510-BA4E-4356-9576-EA8F6FFB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526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F8567-99AB-42CC-B95B-3C0E2F49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23431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760C1-A390-4E36-824B-6F73F46D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82FB4-993F-4A0F-A46C-D0C72DD1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持久化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CD558-FCA7-4ADF-97BC-3661861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943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SQLAlchemy · Alembic · SQLite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AF57D-4289-46D2-8E31-5EFCE6A3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6205A-DF2E-4960-8C2B-033AEFF2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9718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5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52075-CB9C-42BA-9FEA-91922F9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E4B2F-0596-46CF-82DF-44BCCF3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57375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外部能力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63A73-F254-4ABD-988B-A650669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Binance REST · Gemini / OpenAI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D4E25-3024-45FD-B85B-58B3E01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702945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D9C48-8242-41C2-92BE-E958952B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独立核心：quant_engine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E187E-E00E-44D6-BEF4-C8D0D1C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Strategy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83F54-AB9B-4F47-AF77-363B775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52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Broker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9258C-EA50-4402-AE1F-E63A9CBB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52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BFF46-C3FC-4C54-A447-912FBDD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Analyzer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F8A83-B944-41B9-9C2A-ABC7478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62674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574CC-EB5E-41C2-8307-A7997D8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5886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不依赖 HTTP 和前端，可直接单元测试，也可被后台任务复用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840D36-4E03-4A8A-8386-4AB70443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为什么这样拆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BA8D4-8793-4A17-A5FD-432F6855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2004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• 界面替换不影响计算内核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• 数据源和模型供应商可切换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• 迁移、任务与结果各自可追踪</a:t>
            </a:r>
          </a:p>
          <a:p xmlns:a="http://schemas.openxmlformats.org/drawingml/2006/main">
            <a:pPr algn="l">
              <a:defRPr sz="12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• 核心逻辑可被测试精确覆盖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FC7F4-4D5F-4243-9AAF-A615E60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3E304-6333-4FF6-8804-F2DFE186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实现模块：frontend / backend / quant_engine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1433E1-C703-4359-AFAC-DB64D6B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11320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6065C3A-6AC9-4CD9-96EC-B271C21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EDBC87-36F2-4ECD-92E4-C50B807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BAF650-462C-4CF3-8798-D8384DF0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CORE TECHNOLOGY / MARKET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9D44A-5A85-4D33-9415-F121762C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实时行情只有被校验和存储后，才能成为回测数据。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E35CC-6F4A-4857-B557-1F5F8B4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907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576A7-62D3-45E5-B0C5-8504C2C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0F1B9-F7E6-40E7-A7E1-8435F7D8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拉取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CDEB5-A517-48B6-AAED-66648BEB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447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Binance /api/v3/klines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按时间窗口请求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B6FDD-E262-4289-9AEA-3E1E767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860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1E7EF-CED4-4F02-BAF2-3903DD6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38350"/>
            <a:ext cx="17907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49479-88B9-4FE9-8E54-057F7DB9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16BB6-3FCB-406A-8EC9-E6243214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3842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分页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F22DB-A214-4EBC-805C-8C59890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33725"/>
            <a:ext cx="1447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单次限制 2000 根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补齐目标区间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EBE27-6DBD-45D3-8246-ABD1646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4D382-077D-450C-A584-648628D7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7907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15543-CA0E-472E-B4F8-09BA3B99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E034A-03E0-4B79-91FF-9ED3479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3842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标准化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BF1A5-CD75-4CA5-B663-144B575F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33725"/>
            <a:ext cx="1447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UTC 时间戳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统一 OHLCV 字段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4B846-AAC6-4205-B122-4E172CBD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931A5-2ED1-4D09-93FC-1722BF0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17907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BC1F7-89C3-42AC-BC22-6A654FB0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3A300-806C-4DD8-BAD5-5760C0C3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3842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E53A5-52EF-4313-A927-65457C34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1447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按唯一键 Upsert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写入 market_klines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E02B2-385B-46C1-82C3-249EF10C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E0965-14D3-4350-AC5C-E7FABBBB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7813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E455E-CF66-469A-874D-7A8877C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FE3FF-5EB3-420C-9763-E041D3CD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38425"/>
            <a:ext cx="2438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健康检查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A0F70-321C-40A7-B33C-1BF71F1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33725"/>
            <a:ext cx="2438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计算最新年龄与缺口</a:t>
            </a:r>
          </a:p>
          <a:p xmlns:a="http://schemas.openxmlformats.org/drawingml/2006/main">
            <a:pPr algn="l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供图表和回测复用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DA93A-C1DF-45FE-B028-313CBAD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10871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6B898-304D-4E7F-BDDB-40F7DB0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默认图表窗口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DAAB7-C8B5-4D1B-8014-B1B7DAB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1m / 1 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D01F0B-7442-4644-AE1E-A944AD23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5m / 3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B332A-7328-4E9E-AE95-37C407B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863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15m / 7 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FD9758-7001-402D-A96B-C04021E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863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1h / 30 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F16857-EF60-443A-BFE1-F6792128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863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1d / 365 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668C6-2F0A-4F1C-8E80-72087CE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91050"/>
            <a:ext cx="106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3,992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3B3334-75D0-4CB3-BF13-F6208E8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292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已存储 K 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65C373-1C32-4918-BD1D-D02BC98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1200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2026-06-15 02:56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71723C-15D3-440D-BE1C-80214047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292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最新记录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82420D-8A49-4CCA-B110-FF0489CE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49F7EC-E238-4879-B14F-369369A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来源：backend/services/market_data_service.py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62E682-E8F6-4BDE-8650-1675F8A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60398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3C3ADE6-6010-46B0-8C0D-5B8571E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721889-4B87-447C-9193-6366E5D5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19D1B6-0F6E-4635-9847-8BDEBD02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CORE TECHNOLOGY / BACKTEST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D617A-0915-4BD2-8DBE-B5FFEDD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固定的逐 Bar 执行顺序，是避免未来数据的关键。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4124E-4222-42B4-B3AD-95E03538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829300" cy="3409950"/>
          </a:xfrm>
          <a:prstGeom xmlns:a="http://schemas.openxmlformats.org/drawingml/2006/main" prst="roundRect">
            <a:avLst>
              <a:gd name="adj" fmla="val 5028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C3A2E-4FF7-4B79-B304-03B8289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quant_engine/engine.py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2E921-57E3-4B4E-A6DE-12B1264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5143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for kline in data:</a:t>
            </a:r>
          </a:p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broker.execute_pending_orders(kline)  # OPEN</a:t>
            </a:r>
          </a:p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history.append(kline)</a:t>
            </a:r>
          </a:p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strategy.on_bar(kline)</a:t>
            </a:r>
          </a:p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broker.mark_to_market(kline)          #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745BF-B524-470A-BC9F-20C69B24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5143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AD5E4-72C0-4CEA-8B82-4273B9A1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4375"/>
            <a:ext cx="480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信号产生于 t，最早只能在 t+1 的开盘价成交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32C2F-23C2-4970-8679-B8EC03C5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7950F-85DA-4AC6-A53F-985C8DF0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E1AA9-6949-4720-990E-9084BA6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321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执行上一根 Bar 的待成交订单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17ED8-FF02-4C2B-A300-1970ECB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6692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使用当前 kline.open 模拟成交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F1A54-F020-492B-99ED-3F52BC3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28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5B713-8C09-4DE0-AA26-C392B6D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A3BF4-EA9D-4D4F-AF1D-1B6E137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9BC61-CDCE-4524-94D4-179E34B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321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把当前 Bar 加入历史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513E6-B8D0-4669-BC8B-3C486158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8607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策略只能看到截止当前时点的数据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C82B4-5B18-4D1E-8FBF-51693F7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4592F-DCE8-4DD0-9DDB-88D3B78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ECDBB-1610-405F-9B51-9D05D30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B8AF3-440F-466E-A461-93D2C8F4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321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策略计算并提交下一笔订单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C072E-D5F1-4326-B0F0-0395524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订单先进入 pending queue，不立即成交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445E2-B3CB-4B9B-93D0-CE84524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671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06287-3BEC-4193-AF8C-92B496D3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13226-0EC6-4AF2-807B-7180B914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84120-BD14-4179-8135-4B6A528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321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按收盘价更新权益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A440A-234E-4AF4-9F53-C188ECB9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2437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cash + quantity × kline.close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F346A-6C43-4EF3-BEEF-879B4FC0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BF7C1-996D-4D62-ADCF-30AC490D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62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核心约束：计算信号和模拟成交被拆到相邻 Bar，避免“用收盘价看见未来、又按同一收盘价成交”。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ED94FB-1FBE-4F34-9BFA-6AD26B66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99DF8-F900-4881-92A8-61C80FE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来源：quant_engine/engine.py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984E7-9F31-42E9-A000-194A66D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43293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C0CD00-8823-4634-ADA4-34286A03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3FCF25-DBEF-444F-A44C-D717C73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56375D-8B4E-498D-8F1C-621E6C6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CORE TECHNOLOGY / EXECUTION &amp;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63244-3FBF-4D86-9A04-D7A1F896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撮合、费用、风控与指标被拆成独立模块，</a:t>
            </a:r>
          </a:p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而不是混进策略代码。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30D5D-6681-4473-B785-B8A9CE8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2AEB0-AECB-4DA2-9BD8-1DB6067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ED6A-32F9-4B09-BF85-26F741B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读取历史数据</a:t>
            </a:r>
          </a:p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只负责生成订单意图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F5245-5738-4AA9-82F4-F292789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8F03D-CCA6-460C-AEA7-8BF42CC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6215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1AAB5-443D-4BEF-BFCA-E938BAD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RiskManager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83E60-09C7-488C-B2B3-2CE6CE57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数量必须为正</a:t>
            </a:r>
          </a:p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校验现金与持仓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94130-1E1B-4B84-B76C-227BC6FE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16F4E-835D-4489-9CAE-33500AD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E2E59-5F0A-4DDB-B3F7-D0AB2C43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Simulated Broker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78DCE-8AAB-4E6F-B454-F911BD3A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待成交队列</a:t>
            </a:r>
          </a:p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开盘价成交 + 手续费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0280B-4766-4049-9B06-8FE25A5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71D11-8FC3-4F8C-9AA1-E7B1563A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C9BB3-01A5-4E31-B115-004F1B3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Analyzer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C1B09-136B-4A5D-95AF-ADD6EEBF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权益曲线、回撤</a:t>
            </a:r>
          </a:p>
          <a:p xmlns:a="http://schemas.openxmlformats.org/drawingml/2006/main">
            <a:pPr algn="ctr">
              <a:defRPr sz="10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Sharpe 与胜率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638DA-38D1-4D56-BEA4-12B3014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1816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07276-46A2-4226-8003-BA96BFA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模拟交易规则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E3F16-B7CD-4B27-BFA8-472004C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324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• 现货多头：无持仓不能卖出</a:t>
            </a:r>
          </a:p>
          <a:p xmlns:a="http://schemas.openxmlformats.org/drawingml/2006/main">
            <a:pPr algn="l">
              <a:defRPr sz="12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• 买入：cash -= value + fee</a:t>
            </a:r>
          </a:p>
          <a:p xmlns:a="http://schemas.openxmlformats.org/drawingml/2006/main">
            <a:pPr algn="l">
              <a:defRPr sz="12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• 卖出：cash += value - fee</a:t>
            </a:r>
          </a:p>
          <a:p xmlns:a="http://schemas.openxmlformats.org/drawingml/2006/main">
            <a:pPr algn="l">
              <a:defRPr sz="12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• 默认 fee_rate = 0.001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74084-C614-4A2D-A685-2C89808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56197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44A34-A045-4861-99AD-9A6ACD3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指标口径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B1AD8-8E07-45FA-9736-A99853F7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EQUITY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70056-8891-4CA3-A978-05F313D7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24350"/>
            <a:ext cx="375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Menlo"/>
                <a:ea typeface="Menlo"/>
                <a:cs typeface="Menlo"/>
              </a:defRPr>
            </a:pPr>
            <a:r>
              <a:t>cash + quantity ×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E3037-EA31-4087-A198-BA1BBEC3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DRAWDOWN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9A60E-48EA-4333-BE3D-6DC12F2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24400"/>
            <a:ext cx="375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Menlo"/>
                <a:ea typeface="Menlo"/>
                <a:cs typeface="Menlo"/>
              </a:defRPr>
            </a:pPr>
            <a:r>
              <a:t>equity / running peak − 1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939480-FF50-4C1A-AF62-88B027B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25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SHARPE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9F1D6-372E-4446-B65B-5398EAB6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375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按 Bar 间隔推导年化周期数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6BBE4-8AE4-43A1-B73B-C90916F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4BD00-B444-4B18-B353-22ACDD1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来源：simulated.py / risk.py / performance.py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E4E4DD-5F7B-4337-8EEC-4D510C5D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69624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85BD29E-CB0C-44D9-8D0D-6DAF26B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BB0271-928F-4271-8E6E-6CD27E4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70AF7D-9745-4AD3-83C8-743FC6F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CORE TECHNOLOGY / AI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622C2-31CD-4B92-8447-80408C0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大模型读取结构化回测证据，输出固定 contract，</a:t>
            </a:r>
          </a:p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而不是自由聊天。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05247-53D1-48EC-9B95-45C5AC2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009900" cy="33528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19658-539E-40EE-860F-BBB7239F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STRUCTURED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33197-901F-4178-A3D4-CAAEDA6C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4339-6C36-4392-982D-8440F6A0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24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策略类型与参数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D101F-1509-45E7-B61B-DFA17AD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B2E6D-C462-4AC4-A1A1-3FAB969B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24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收益 / 回撤 / Sharpe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55A4-48D6-4B0A-AB27-1596887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61236-63F6-4028-A67D-A789E8C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24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交易次数与胜率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6BD2A-12A5-4C6F-9E27-2264253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81F71-8B65-4FE8-82F7-6AC09D7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24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权益曲线与成交记录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14422-80AC-40A6-B7DE-7B8702D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514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906ED-07C0-44F7-B388-0A281FF5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24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标的 / 周期 / 时间范围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82E89-7B4A-47B3-B811-EEF264E7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C5BDC-7C8A-4C86-888F-496E3960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33625"/>
            <a:ext cx="333375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0FB04-8409-4F95-A22C-0C7EF71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PROVIDER ROUTER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FEDEF-C047-4D77-BC47-A5734F2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6098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03F82-DBBE-4C36-9373-955BD23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609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Gemini 3.5 Flash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9E216-4970-471A-9AFF-8AE8212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86175"/>
            <a:ext cx="12573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E5FA3-565F-411B-9B0A-A775881D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OpenAI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07C71-E5D6-44C9-BA12-AA59B19B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12573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680AE-4991-4C3F-B3C3-9C880576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81425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Local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C5D51-EB50-4913-8D05-3287F3D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8150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超时 / Key 缺失 / 响应异常 → 可解释回退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D63DB-C767-472E-9E8C-EAF5807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39168-C1A7-49F5-A3CB-771DBA55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638550" cy="33528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F8F5E-BCA7-4BA7-A9C1-F1B7E90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PERSISTED JSON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E57C86-837E-429A-924C-2AD1061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ADFF5-C38B-4EDD-8C3D-3CE71D9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0325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t>"score": 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86F2E-BA64-457F-81C5-44BAA93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62275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E6690-93C3-4BAA-9808-4109551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Menlo"/>
                <a:ea typeface="Menlo"/>
                <a:cs typeface="Menlo"/>
              </a:defRPr>
            </a:pPr>
            <a:r>
              <a:t>"confidence": 0.85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2DD48D-5CCD-4A6F-AEF3-8E07AB3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448A87-72AF-4157-8799-A9454781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"strengths": [...]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F5514A-1117-4883-855B-34913FD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9525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8BB3D-6D58-43C4-8C43-151BA15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5A5A"/>
                </a:solidFill>
                <a:latin typeface="Menlo"/>
                <a:ea typeface="Menlo"/>
                <a:cs typeface="Menlo"/>
              </a:defRPr>
            </a:pPr>
            <a:r>
              <a:t>"warnings": [...]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8EE771-5897-412B-BA7E-A135437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8C57ED-E460-4DF1-BA97-1E92F553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14825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"recommendations": [...]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6D86BA-B9E8-4319-9CA1-4BF6BC8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76775"/>
            <a:ext cx="23622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549ED-BE1A-486E-AA79-67B7D25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8DFF"/>
                </a:solidFill>
                <a:latin typeface="Menlo"/>
                <a:ea typeface="Menlo"/>
                <a:cs typeface="Menlo"/>
              </a:defRPr>
            </a:pPr>
            <a:r>
              <a:t>"suggested_params": {...}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7C1EAA-BD2C-4426-B608-EE6A3E3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10871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C1F2C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2CB32-5EF8-47C5-B3F1-6C313320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前端同时展示 provider、model、fallback reason；分析结果写入数据库，可追溯、可复查。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56AC72-20E3-4069-BC59-3142F715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D5A2E7-CA87-4D3E-90C4-6038DFF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实现：Gemini / OpenAI / local provider switching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921305-B55F-4003-8F55-A73F962F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87820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5125CC0-9A2C-40BC-AA6C-8BE1498B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9DE112-9E49-4264-A6E6-59601CF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337223-85F0-4392-9501-079E1B9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597D-55B3-4625-A63D-49B7709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前端功能按研究流程组织，而不是按技术模块堆放。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AA577-EEA0-434A-ADC6-9A71795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CC14C-D6F9-4B27-9F49-E300BC23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43743-1F75-4FD9-9546-97882AB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87CD7-54F7-4DC2-B449-AE538266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注册登录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F624A-2497-49EE-8CC7-0A4060C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JWT 鉴权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独立入口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C1B3D-9C17-4140-860F-806D3453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90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CF754-0DA0-4394-9B05-91651DC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BADA8-B051-4B7B-A90D-ACC1E89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548E1-7118-4900-B7A9-07E2B962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C2376-DDB6-4753-8C27-18AFE6FE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观察行情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F5468-58D0-454A-BA58-5DCBCDE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实时 K 线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周期切换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44010-A35F-4FDF-963D-7BFC1CC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90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CB940-483B-4EB9-A6F9-10A96AB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FB4F9-B6E8-4B45-A397-2763EB1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3F590-2F8C-433A-A27D-9912F358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1336B-A60C-4908-9CBE-DCE08F5C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管理策略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3F473-5335-406B-958B-D686E7D2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内置策略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自定义参数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12978-F7FD-4228-B576-69303617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CF052-1F57-4C63-8097-74888F9E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CB078-9D27-4914-8332-1A82A8BD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31ABF-A5C8-49D2-861D-0B1FC55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DCB3E-51B5-4F44-B92A-4D53AB2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提交回测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696AB-334A-432C-B3A5-AD6458DE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区间 / 周期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初始资金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1BF05-6265-4B92-BB2F-5231EBC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4EAF9-FB81-4D37-85B2-18A03E48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65DAC-FCAE-4BAC-AD6A-BFA81366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06908-4756-46DE-9093-5D2BAE4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60826-1F33-44C6-825D-70CF0199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分析结果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A2706-4532-4497-9304-6092A66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K 线成交点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权益与指标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87A5B-0D67-4435-8865-E591CE48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EB2E2-E4CB-4AEA-A490-F32F0F6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81200"/>
            <a:ext cx="16002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08521-C250-414B-8807-8A08D0F0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128A1D-68C9-459D-8B15-CD32A4B1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A800A-BC28-4DFF-A9C8-FB74802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AI 诊断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978E6-B34A-445E-9224-1D28D76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242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风险提示</a:t>
            </a:r>
          </a:p>
          <a:p xmlns:a="http://schemas.openxmlformats.org/drawingml/2006/main">
            <a:pPr algn="l">
              <a:defRPr sz="975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调参复测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C65C2C-2CFF-4464-B87B-131D1470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1087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3F8DF-F93B-4363-8A36-8AA6FB97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一个研究任务如何闭环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B28231-0878-47E4-8E40-1F58D5F2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BTCUSDT · 1d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4D58D6-1907-4CE7-93F5-CF68674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482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CAB5D0-3C95-49D3-A771-22962F59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8632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MA Cross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764621-B407-4D50-91D0-906CED39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482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F1C7C-FE60-4BD6-AC96-1219B85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86325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回测任务 #33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1CF915-21E6-4EDF-9290-069CA201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482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B50231-5FDC-4291-A831-6D09B397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负收益诊断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219DE1-64D9-41C7-AAB3-0915CBA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482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D6166B-C9FF-4652-BF3E-B0013AC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86325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调整参数并复测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F5C056-450F-411E-B8E7-A660787A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516816-D2CF-4964-87AA-8D2A825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核心页面：市场 / 策略 / 回测 / AI 分析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150B64-4A60-416A-9361-D180CF6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75714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ACF409F-E5ED-471E-B539-26B03CDA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B5A1CF-5E34-484A-B250-8B775E3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890E00-10BA-4003-842E-E375F0E8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REAL CASE / BTCUSDT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C36A3-CF7B-4059-A488-BC4654B7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负收益案例更能证明平台具备诊断价值。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3E9DA-DAB4-4FC9-A599-C0603F3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MA Cross · 1d · 2025-10-12 至 2026-06-15 · 初始资金 10,000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4B12-BEFC-4560-AE7B-EFA4E110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8577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B8299-FFCF-45C3-B337-32718DF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BACKTEST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DB51-241B-49CF-962E-FE344EB1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−7.15%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0CCDF-9732-47C0-8D74-3DEDD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总收益率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7B344-5317-41A4-95B7-1AC1E853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−16.75%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E1175-47B8-474E-A102-3135C89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最大回撤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2B6A8-11AB-4E87-AFBA-44CA3D6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−0.399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80948-CD36-449D-A886-04EC12E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Sharpe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505D-A6F8-4A35-9A11-E118CAD3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615BB-8916-4348-B0D2-CBB91961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胜率 / 8 笔交易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4E69F-7C3E-442D-AF55-8B792A3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最终权益  9,285.45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017CF-7135-4FD5-A5AE-FEA892E8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2362200" cy="325755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1D5B0-C7C3-48AA-AEEF-72343CF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81225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GEMINI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9A1F5-3DBE-4A3C-A890-EF827D74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182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FE44A-B1D3-4F68-B599-1A26D9C7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182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/ 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207E4-1F0C-4E57-BB38-208759B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18288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2"/>
          </a:solidFill>
          <a:ln xmlns:a="http://schemas.openxmlformats.org/drawingml/2006/main" w="0">
            <a:solidFill>
              <a:srgbClr val="EEF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DA117-43DC-4B81-9C8B-C2229307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182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85%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37AB3-7FDA-4767-9C16-BE5C05F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模型置信度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F1380-C07E-4159-9500-CD4838F8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1828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结果不是“推荐买入”，而是明确指出风险。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EF3E2-0D37-44E5-B9F8-7E1835F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219450" cy="32575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3C46F-2D7C-4705-B767-121B916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81225"/>
            <a:ext cx="268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建议的下一轮实验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7D43E-F8AC-4A64-B91D-A132271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46332-D1FA-4AF2-B414-645D6C7E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加入趋势或波动率过滤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112C1-3B7E-41E3-8E13-3FB690F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395030-AD75-483D-910C-EF6263EB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18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设置止损与最大回撤阈值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97549-5AC9-4D92-ABF5-D88D14E9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D422C-0028-4067-8354-FC645F8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814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参数网格 + 样本外验证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92D3F9-C3AC-4CC1-B6B8-6065E20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29150"/>
            <a:ext cx="259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从诊断回到实验，而不是把 AI 当成交易信号。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83C99B-9380-43A8-BA6C-5A0F2673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1087100" cy="4953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4F81E-76B7-41C8-921F-E333E74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展示重点：不是收益高，而是结果可解释、可追溯、可迭代。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5859FB-619B-45C3-8BCF-2240EC9E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0351B-7CAC-48A1-BB64-4F068F0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707C"/>
                </a:solidFill>
                <a:latin typeface="PingFang SC"/>
                <a:ea typeface="PingFang SC"/>
                <a:cs typeface="PingFang SC"/>
              </a:defRPr>
            </a:pPr>
            <a:r>
              <a:t>回测记录 #33 / AI 分析记录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8780F-7775-4D66-B434-D31E5CF1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707C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39281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AB22791-365A-417B-BA87-062AED82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A1375C-B923-4B48-9242-D451F70D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37514A-5A8D-42EA-B35C-0094543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ENGINEERING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0C21-F284-4B75-8294-8B1CB03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一键启动、迁移和测试，让演示结果可以重复。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998CB-5CC1-42E6-BC44-B29EAE7E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8102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71BA3-4CA6-477E-8D89-EC7E06E3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DEMO 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25086-44B0-490C-9A8D-5065C98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$ ./scripts/demo.sh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1EF43-D17E-42DA-B2D0-511AE4E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953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6CA"/>
                </a:solidFill>
                <a:latin typeface="Menlo"/>
                <a:ea typeface="Menlo"/>
                <a:cs typeface="Menlo"/>
              </a:defRPr>
            </a:pPr>
            <a:r>
              <a:t>[ok] virtualenv / dependencies</a:t>
            </a:r>
          </a:p>
          <a:p xmlns:a="http://schemas.openxmlformats.org/drawingml/2006/main">
            <a:pPr algn="l">
              <a:defRPr sz="1275" b="0">
                <a:solidFill>
                  <a:srgbClr val="B7C6CA"/>
                </a:solidFill>
                <a:latin typeface="Menlo"/>
                <a:ea typeface="Menlo"/>
                <a:cs typeface="Menlo"/>
              </a:defRPr>
            </a:pPr>
            <a:r>
              <a:t>[ok] alembic upgrade head</a:t>
            </a:r>
          </a:p>
          <a:p xmlns:a="http://schemas.openxmlformats.org/drawingml/2006/main">
            <a:pPr algn="l">
              <a:defRPr sz="1275" b="0">
                <a:solidFill>
                  <a:srgbClr val="B7C6CA"/>
                </a:solidFill>
                <a:latin typeface="Menlo"/>
                <a:ea typeface="Menlo"/>
                <a:cs typeface="Menlo"/>
              </a:defRPr>
            </a:pPr>
            <a:r>
              <a:t>[ok] backend http://localhost:8000</a:t>
            </a:r>
          </a:p>
          <a:p xmlns:a="http://schemas.openxmlformats.org/drawingml/2006/main">
            <a:pPr algn="l">
              <a:defRPr sz="1275" b="0">
                <a:solidFill>
                  <a:srgbClr val="B7C6CA"/>
                </a:solidFill>
                <a:latin typeface="Menlo"/>
                <a:ea typeface="Menlo"/>
                <a:cs typeface="Menlo"/>
              </a:defRPr>
            </a:pPr>
            <a:r>
              <a:t>[ok] frontend http://localhost:5173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8A857-A583-4C29-80B7-06B35B90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95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F2793-C5EC-4AE6-A200-8882051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t>./scripts/check_demo.sh  →  preflight 全项通过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894FE-4BCA-4E7E-93EA-8E87A97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8768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9F273-D739-4F17-BC25-14BA64D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VERIFIED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CA7F1-81FC-4322-B25B-CD4E03DC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E7F30-CAB5-4DAE-BA32-848B1958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自动化测试通过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8B8EE-050F-4FFE-8099-4CEB6CD9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E3A01-7FA6-4D7B-BB04-D63CBB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数据库迁移版本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F39A5-F179-42E3-BAEB-B7FFD290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F10BA-14CF-4F0E-B47B-12EDAF6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持久化回测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DD9EF-1C75-4E14-A842-F2681781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623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7CCDD-A5A8-434D-9FFA-BBC86C9D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持久化 AI 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874BF-A688-41F5-9026-A0DD0AC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前端构建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D003F-827F-439E-82AC-B94640E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6851D-A244-4E33-B9A9-638BE17A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认证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4F844-0198-4B55-87F5-36F903D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291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JWT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2C35E-219A-486F-933C-8E3F580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871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1F2C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48AB8-B942-41C8-B9BC-04CF1D8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演示前只需要配置环境变量并运行一条脚本；数据库状态、接口和前端均可自动检查。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4E254-7735-4F65-B661-5A384BD7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3ADD5-0957-4310-AAD5-06304FD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验证日期：2026-06-15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094CBD-352D-4715-9AFC-0F824FB8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80210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602B2B7-EFBA-42BB-8B88-3F00E41F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3B0B1B-2836-4212-8230-53E071C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DF35A0-7888-494D-B99A-9C3A2856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A050B-2513-4ACD-A68B-79AFAAA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项目已满足课程演示要求，</a:t>
            </a:r>
          </a:p>
          <a:p xmlns:a="http://schemas.openxmlformats.org/drawingml/2006/main">
            <a:pPr algn="l">
              <a:defRPr sz="27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生产化边界也足够清楚。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B8C07-0FAB-47E6-9449-39D069A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5638800" cy="32194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4B638-157D-4F61-8FA1-8F4086E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三个核心创新点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1FD8A-627A-4658-AFBB-8A67366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88EB9-9AD1-47D7-9897-583F5E5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实时数据进入同一套回测链路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C7B54-071F-431B-A05A-D1A28BB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62275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不是图表装饰，而是校验、落库后被引擎复用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03E59-2BB5-4E13-BE49-E679EF74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772CE-9BAE-423B-BE07-7E41148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执行时序显式避免未来数据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F6A01-CF07-41CB-8552-88EA5A3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81425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信号与成交跨 Bar，费用、风控和权益独立计算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D8AD8-DA9C-4F26-A9A8-18333E3A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ADB0D-2369-4DCA-86A9-7C293FB0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输出可验证的结构化诊断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0F4FC-3AD3-4132-8F02-1E19B4A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00575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保留模型、供应商和回退原因，不伪装成交易信号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99306-01E6-4695-A9CF-9EE84534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067300" cy="32194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72E22-F97A-40AD-9211-E995C5F5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下一阶段边界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3018D-BD68-437F-A419-BC669F11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1719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• 自定义策略代码增加沙箱隔离</a:t>
            </a:r>
          </a:p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• 后台任务迁移到独立 Worker 队列</a:t>
            </a:r>
          </a:p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• 行情同步迁移到服务端调度器</a:t>
            </a:r>
          </a:p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• 增加样本外与走步验证</a:t>
            </a:r>
          </a:p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• 完善生产级认证、日志和监控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00D6E-7286-4951-9EDE-E2DCD1A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4A41B-DC06-4980-9822-2F1AC07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62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最终成果：一个能观察行情、运行回测、解释结果并支持继续实验的量化研究平台。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B0180-DF19-4694-B83B-B0FD085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CCF3F-6AB3-46C8-A259-7BD7CE2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9A0AA"/>
                </a:solidFill>
                <a:latin typeface="PingFang SC"/>
                <a:ea typeface="PingFang SC"/>
                <a:cs typeface="PingFang SC"/>
              </a:defRPr>
            </a:pPr>
            <a:r>
              <a:t>THANK YOU / Q&amp;A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69860-2934-4A7C-9250-48005AA3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A0AA"/>
                </a:solidFill>
                <a:latin typeface="Avenir Next"/>
                <a:ea typeface="Avenir Next"/>
                <a:cs typeface="Avenir Next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362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2026-06-15T12:54:31.8270000Z</dcterms:created>
  <dcterms:modified xsi:type="dcterms:W3CDTF">2026-06-15T12:54:31.8270000Z</dcterms:modified>
</coreProperties>
</file>