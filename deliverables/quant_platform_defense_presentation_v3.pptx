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5cf7e3c1c7c24c48" /><Relationship Type="http://schemas.openxmlformats.org/officeDocument/2006/relationships/extended-properties" Target="/docProps/app.xml" Id="Rdf7b1aa1b3d44c84" /><Relationship Type="http://schemas.openxmlformats.org/officeDocument/2006/relationships/officeDocument" Target="/ppt/presentation.xml" Id="R6163f60fa0e14d1b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de8252c124a74870"/>
  </p:sldMasterIdLst>
  <p:notesMasterIdLst>
    <p:notesMasterId xmlns:r="http://schemas.openxmlformats.org/officeDocument/2006/relationships" r:id="R5c605734df604105"/>
  </p:notesMasterIdLst>
  <p:sldIdLst>
    <p:sldId xmlns:r="http://schemas.openxmlformats.org/officeDocument/2006/relationships" id="256" r:id="R58ab7417523b4802"/>
    <p:sldId xmlns:r="http://schemas.openxmlformats.org/officeDocument/2006/relationships" id="257" r:id="Rb28d0290f73c417c"/>
    <p:sldId xmlns:r="http://schemas.openxmlformats.org/officeDocument/2006/relationships" id="258" r:id="R6e05ccd4e8264176"/>
    <p:sldId xmlns:r="http://schemas.openxmlformats.org/officeDocument/2006/relationships" id="259" r:id="Rbb1d351352c94357"/>
    <p:sldId xmlns:r="http://schemas.openxmlformats.org/officeDocument/2006/relationships" id="260" r:id="Rb2c3cf4151284b0c"/>
    <p:sldId xmlns:r="http://schemas.openxmlformats.org/officeDocument/2006/relationships" id="261" r:id="Rcfc9f2c4399e44fd"/>
    <p:sldId xmlns:r="http://schemas.openxmlformats.org/officeDocument/2006/relationships" id="262" r:id="Rc26aa844ae354338"/>
    <p:sldId xmlns:r="http://schemas.openxmlformats.org/officeDocument/2006/relationships" id="263" r:id="R940dd1836d62436a"/>
    <p:sldId xmlns:r="http://schemas.openxmlformats.org/officeDocument/2006/relationships" id="264" r:id="R35144132bb09460f"/>
    <p:sldId xmlns:r="http://schemas.openxmlformats.org/officeDocument/2006/relationships" id="265" r:id="Rf5af0aa141bf435e"/>
    <p:sldId xmlns:r="http://schemas.openxmlformats.org/officeDocument/2006/relationships" id="266" r:id="Rffb0bfc7df064d6b"/>
    <p:sldId xmlns:r="http://schemas.openxmlformats.org/officeDocument/2006/relationships" id="267" r:id="Rb050710b6fa24521"/>
  </p:sldIdLst>
  <p:sldSz cx="12192000" cy="6858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>
  <p:normalViewPr>
    <p:restoredLeft sz="15611"/>
    <p:restoredTop sz="94658"/>
  </p:normalViewPr>
  <p:slideViewPr>
    <p:cSldViewPr snapToGrid="0">
      <p:cViewPr varScale="1">
        <p:scale>
          <a:sx xmlns:a="http://schemas.openxmlformats.org/drawingml/2006/main" n="120" d="100"/>
          <a:sy xmlns:a="http://schemas.openxmlformats.org/drawingml/2006/main" n="120" d="100"/>
        </p:scale>
        <p:origin x="800" y="184"/>
      </p:cViewPr>
      <p:guideLst/>
    </p:cSldViewPr>
  </p:slideViewPr>
  <p:notesTextViewPr>
    <p:cViewPr>
      <p:scale>
        <a:sx xmlns:a="http://schemas.openxmlformats.org/drawingml/2006/main" n="1" d="1"/>
        <a:sy xmlns:a="http://schemas.openxmlformats.org/drawingml/2006/main" n="1" d="1"/>
      </p:scale>
      <p:origin x="0" y="0"/>
    </p:cViewPr>
  </p:notesTextViewPr>
  <p:gridSpacing cx="76200" cy="76200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39de287318154c60" /><Relationship Type="http://schemas.openxmlformats.org/officeDocument/2006/relationships/slideMaster" Target="/ppt/slideMasters/slideMaster1.xml" Id="Rde8252c124a74870" /><Relationship Type="http://schemas.openxmlformats.org/officeDocument/2006/relationships/notesMaster" Target="/ppt/notesMasters/notesMaster1.xml" Id="R5c605734df604105" /><Relationship Type="http://schemas.openxmlformats.org/officeDocument/2006/relationships/presProps" Target="/ppt/presProps.xml" Id="Rf6796edad6c748d9" /><Relationship Type="http://schemas.openxmlformats.org/officeDocument/2006/relationships/viewProps" Target="/ppt/viewProps.xml" Id="R13a1b325c93d4316" /><Relationship Type="http://schemas.openxmlformats.org/officeDocument/2006/relationships/tableStyles" Target="/ppt/tableStyles.xml" Id="R7a6375f3ef6c425d" /><Relationship Type="http://schemas.openxmlformats.org/officeDocument/2006/relationships/slide" Target="/ppt/slides/slide1.xml" Id="R58ab7417523b4802" /><Relationship Type="http://schemas.openxmlformats.org/officeDocument/2006/relationships/slide" Target="/ppt/slides/slide2.xml" Id="Rb28d0290f73c417c" /><Relationship Type="http://schemas.openxmlformats.org/officeDocument/2006/relationships/slide" Target="/ppt/slides/slide3.xml" Id="R6e05ccd4e8264176" /><Relationship Type="http://schemas.openxmlformats.org/officeDocument/2006/relationships/slide" Target="/ppt/slides/slide4.xml" Id="Rbb1d351352c94357" /><Relationship Type="http://schemas.openxmlformats.org/officeDocument/2006/relationships/slide" Target="/ppt/slides/slide5.xml" Id="Rb2c3cf4151284b0c" /><Relationship Type="http://schemas.openxmlformats.org/officeDocument/2006/relationships/slide" Target="/ppt/slides/slide6.xml" Id="Rcfc9f2c4399e44fd" /><Relationship Type="http://schemas.openxmlformats.org/officeDocument/2006/relationships/slide" Target="/ppt/slides/slide7.xml" Id="Rc26aa844ae354338" /><Relationship Type="http://schemas.openxmlformats.org/officeDocument/2006/relationships/slide" Target="/ppt/slides/slide8.xml" Id="R940dd1836d62436a" /><Relationship Type="http://schemas.openxmlformats.org/officeDocument/2006/relationships/slide" Target="/ppt/slides/slide9.xml" Id="R35144132bb09460f" /><Relationship Type="http://schemas.openxmlformats.org/officeDocument/2006/relationships/slide" Target="/ppt/slides/slide10.xml" Id="Rf5af0aa141bf435e" /><Relationship Type="http://schemas.openxmlformats.org/officeDocument/2006/relationships/slide" Target="/ppt/slides/slide11.xml" Id="Rffb0bfc7df064d6b" /><Relationship Type="http://schemas.openxmlformats.org/officeDocument/2006/relationships/slide" Target="/ppt/slides/slide12.xml" Id="Rb050710b6fa24521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6e7571b99ded4a7b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c841716ee5ac4a3e" /><Relationship Type="http://schemas.openxmlformats.org/officeDocument/2006/relationships/notesMaster" Target="/ppt/notesMasters/notesMaster1.xml" Id="Rded7a0b506284b09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3d1da477f45b47d8" /><Relationship Type="http://schemas.openxmlformats.org/officeDocument/2006/relationships/notesMaster" Target="/ppt/notesMasters/notesMaster1.xml" Id="R7b164217b9a2435b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bc208b36246f4645" /><Relationship Type="http://schemas.openxmlformats.org/officeDocument/2006/relationships/notesMaster" Target="/ppt/notesMasters/notesMaster1.xml" Id="R37c91792b6e54723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633562c4338c443d" /><Relationship Type="http://schemas.openxmlformats.org/officeDocument/2006/relationships/notesMaster" Target="/ppt/notesMasters/notesMaster1.xml" Id="R3bee5786895f4854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16f82241aff04e3f" /><Relationship Type="http://schemas.openxmlformats.org/officeDocument/2006/relationships/notesMaster" Target="/ppt/notesMasters/notesMaster1.xml" Id="Raf1ebdad0f9c4756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06f7874037f24354" /><Relationship Type="http://schemas.openxmlformats.org/officeDocument/2006/relationships/notesMaster" Target="/ppt/notesMasters/notesMaster1.xml" Id="R091701f7e8e54f19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d493842d9a294207" /><Relationship Type="http://schemas.openxmlformats.org/officeDocument/2006/relationships/notesMaster" Target="/ppt/notesMasters/notesMaster1.xml" Id="Rbc0368593c0b4ee9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e2e1e1b51cf347f2" /><Relationship Type="http://schemas.openxmlformats.org/officeDocument/2006/relationships/notesMaster" Target="/ppt/notesMasters/notesMaster1.xml" Id="Rb1c111d3262a4cd6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0986649c72e1478a" /><Relationship Type="http://schemas.openxmlformats.org/officeDocument/2006/relationships/notesMaster" Target="/ppt/notesMasters/notesMaster1.xml" Id="R39fa934925b94fe5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09b6b477640245d5" /><Relationship Type="http://schemas.openxmlformats.org/officeDocument/2006/relationships/notesMaster" Target="/ppt/notesMasters/notesMaster1.xml" Id="Ra4128910bf9b4e3c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6de22021c94a4451" /><Relationship Type="http://schemas.openxmlformats.org/officeDocument/2006/relationships/notesMaster" Target="/ppt/notesMasters/notesMaster1.xml" Id="R9a0be46cc3934ebd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6ef7619f84684edc" /><Relationship Type="http://schemas.openxmlformats.org/officeDocument/2006/relationships/notesMaster" Target="/ppt/notesMasters/notesMaster1.xml" Id="Rf40140e0b2d2446a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3cdf6695252e4a09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08985b6f4e5c40d7" /><Relationship Type="http://schemas.openxmlformats.org/officeDocument/2006/relationships/slideLayout" Target="/ppt/slideLayouts/slideLayout1.xml" Id="Rcb20551b2bf74eb0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cb20551b2bf74eb0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4de588d1d934445" /><Relationship Type="http://schemas.openxmlformats.org/officeDocument/2006/relationships/notesSlide" Target="/ppt/notesSlides/notesSlide1.xml" Id="R0f78ca2f5cb045f0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2b4973c9799437b" /><Relationship Type="http://schemas.openxmlformats.org/officeDocument/2006/relationships/notesSlide" Target="/ppt/notesSlides/notesSlide2.xml" Id="R55ea6d0c3c41444d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5a7931deec944ce" /><Relationship Type="http://schemas.openxmlformats.org/officeDocument/2006/relationships/notesSlide" Target="/ppt/notesSlides/notesSlide3.xml" Id="R2b1a6712111c49c6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6506baba8a54e6e" /><Relationship Type="http://schemas.openxmlformats.org/officeDocument/2006/relationships/notesSlide" Target="/ppt/notesSlides/notesSlide4.xml" Id="Rb6475de9221345dd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25655520aa34a6e" /><Relationship Type="http://schemas.openxmlformats.org/officeDocument/2006/relationships/notesSlide" Target="/ppt/notesSlides/notesSlide5.xml" Id="R24839a05e92e4e40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6e4e3cfe6bc44a0" /><Relationship Type="http://schemas.openxmlformats.org/officeDocument/2006/relationships/notesSlide" Target="/ppt/notesSlides/notesSlide6.xml" Id="Re803ac9fd5024ad5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b4570a9a0c844a0" /><Relationship Type="http://schemas.openxmlformats.org/officeDocument/2006/relationships/notesSlide" Target="/ppt/notesSlides/notesSlide7.xml" Id="Rb72d7305970843b3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0918052ce7f4c5c" /><Relationship Type="http://schemas.openxmlformats.org/officeDocument/2006/relationships/notesSlide" Target="/ppt/notesSlides/notesSlide8.xml" Id="Rf72e6a1b50114840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3308669bb3249f7" /><Relationship Type="http://schemas.openxmlformats.org/officeDocument/2006/relationships/notesSlide" Target="/ppt/notesSlides/notesSlide9.xml" Id="Rac66920d495e42cc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7fb7f2667f24136" /><Relationship Type="http://schemas.openxmlformats.org/officeDocument/2006/relationships/notesSlide" Target="/ppt/notesSlides/notesSlide10.xml" Id="R4468a25f8e3f4e1f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bc2a82f69904db1" /><Relationship Type="http://schemas.openxmlformats.org/officeDocument/2006/relationships/notesSlide" Target="/ppt/notesSlides/notesSlide11.xml" Id="R58626ae6fbe54156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0f8a2837eac4edf" /><Relationship Type="http://schemas.openxmlformats.org/officeDocument/2006/relationships/notesSlide" Target="/ppt/notesSlides/notesSlide12.xml" Id="R59498dc11d3f47aa" /></Relationships>
</file>

<file path=ppt/slides/slide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slide-background">
            <a:extLst xmlns:a="http://schemas.openxmlformats.org/drawingml/2006/main">
              <a:ext uri="{FF2B5EF4-FFF2-40B4-BE49-F238E27FC236}">
                <a16:creationId xmlns:a16="http://schemas.microsoft.com/office/drawing/2014/main" id="{65C5E5B4-C562-45EE-956D-68424B5E25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521"/>
          </a:solidFill>
          <a:ln xmlns:a="http://schemas.openxmlformats.org/drawingml/2006/main" w="0">
            <a:solidFill>
              <a:srgbClr val="071521"/>
            </a:solidFill>
            <a:prstDash val="solid"/>
          </a:ln>
        </p:spPr>
      </p:sp>
      <p:sp>
        <p:nvSpPr>
          <p:cNvPr id="2" name="kicker-marker">
            <a:extLst xmlns:a="http://schemas.openxmlformats.org/drawingml/2006/main">
              <a:ext uri="{FF2B5EF4-FFF2-40B4-BE49-F238E27FC236}">
                <a16:creationId xmlns:a16="http://schemas.microsoft.com/office/drawing/2014/main" id="{A89AD727-654E-4ABC-8740-B33A7332EE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09575"/>
            <a:ext cx="76200" cy="762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DD4BF"/>
          </a:solidFill>
          <a:ln xmlns:a="http://schemas.openxmlformats.org/drawingml/2006/main" w="0">
            <a:solidFill>
              <a:srgbClr val="2DD4BF"/>
            </a:solidFill>
            <a:prstDash val="solid"/>
          </a:ln>
        </p:spPr>
      </p:sp>
      <p:sp>
        <p:nvSpPr>
          <p:cNvPr id="3" name="kicker-label">
            <a:extLst xmlns:a="http://schemas.openxmlformats.org/drawingml/2006/main">
              <a:ext uri="{FF2B5EF4-FFF2-40B4-BE49-F238E27FC236}">
                <a16:creationId xmlns:a16="http://schemas.microsoft.com/office/drawing/2014/main" id="{8142271C-0476-4229-B9A9-C45A810585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14325"/>
            <a:ext cx="409575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F5F1E8"/>
                </a:solidFill>
                <a:latin typeface="Avenir Next"/>
                <a:ea typeface="Avenir Next"/>
                <a:cs typeface="Avenir Next"/>
              </a:defRPr>
            </a:pPr>
            <a:r>
              <a:t>COURSE PROJECT DEFENSE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FE9A997-FC54-4094-BC13-CE2E95B1E9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123950"/>
            <a:ext cx="6858000" cy="647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97701"/>
          </a:bodyPr>
          <a:lstStyle xmlns:a="http://schemas.openxmlformats.org/drawingml/2006/main"/>
          <a:p xmlns:a="http://schemas.openxmlformats.org/drawingml/2006/main">
            <a:pPr algn="l">
              <a:defRPr sz="4350" b="1">
                <a:solidFill>
                  <a:srgbClr val="F5F1E8"/>
                </a:solidFill>
                <a:latin typeface="PingFang SC"/>
                <a:ea typeface="PingFang SC"/>
                <a:cs typeface="PingFang SC"/>
              </a:defRPr>
            </a:pPr>
            <a:r>
              <a:t>量化回测平台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C67A8E3-6CCF-4E72-A707-621DDCFA25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790700"/>
            <a:ext cx="6858000" cy="647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97701"/>
          </a:bodyPr>
          <a:lstStyle xmlns:a="http://schemas.openxmlformats.org/drawingml/2006/main"/>
          <a:p xmlns:a="http://schemas.openxmlformats.org/drawingml/2006/main">
            <a:pPr algn="l">
              <a:defRPr sz="4350" b="1">
                <a:solidFill>
                  <a:srgbClr val="F5F1E8"/>
                </a:solidFill>
                <a:latin typeface="PingFang SC"/>
                <a:ea typeface="PingFang SC"/>
                <a:cs typeface="PingFang SC"/>
              </a:defRPr>
            </a:pPr>
            <a:r>
              <a:t>设计与实现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DC3CB0D-F1AC-4A9F-BB31-32AF748696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781300"/>
            <a:ext cx="7239000" cy="323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2DD4BF"/>
                </a:solidFill>
                <a:latin typeface="PingFang SC"/>
                <a:ea typeface="PingFang SC"/>
                <a:cs typeface="PingFang SC"/>
              </a:defRPr>
            </a:pPr>
            <a:r>
              <a:t>实时行情 · 策略回测 · 异步任务 · AI 分析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34712BE-5DBD-4FD8-AD69-809EEFE696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371850"/>
            <a:ext cx="8001000" cy="304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B7C6CA"/>
                </a:solidFill>
                <a:latin typeface="PingFang SC"/>
                <a:ea typeface="PingFang SC"/>
                <a:cs typeface="PingFang SC"/>
              </a:defRPr>
            </a:pPr>
            <a:r>
              <a:t>汇报结构：背景目标、技术架构、功能实现、关键难点、验证结果、总结展望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BA404CA-F8FF-40D2-A01B-C5A94D1A86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39200" y="914400"/>
            <a:ext cx="2667000" cy="3733800"/>
          </a:xfrm>
          <a:prstGeom xmlns:a="http://schemas.openxmlformats.org/drawingml/2006/main" prst="roundRect">
            <a:avLst>
              <a:gd name="adj" fmla="val 6429"/>
            </a:avLst>
          </a:prstGeom>
          <a:solidFill xmlns:a="http://schemas.openxmlformats.org/drawingml/2006/main">
            <a:srgbClr val="102838"/>
          </a:solidFill>
          <a:ln xmlns:a="http://schemas.openxmlformats.org/drawingml/2006/main" w="0">
            <a:solidFill>
              <a:srgbClr val="102838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3325FF9-6767-4357-AF5A-4C089FDE83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1181100"/>
            <a:ext cx="200025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F2B84B"/>
                </a:solidFill>
                <a:latin typeface="Avenir Next"/>
                <a:ea typeface="Avenir Next"/>
                <a:cs typeface="Avenir Next"/>
              </a:defRPr>
            </a:pPr>
            <a:r>
              <a:t>DEMO SNAPSHOT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F0B3F93-49CE-4B21-911A-46F4D84CA4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1657350"/>
            <a:ext cx="1905000" cy="4191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2DD4BF"/>
                </a:solidFill>
                <a:latin typeface="Avenir Next"/>
                <a:ea typeface="Avenir Next"/>
                <a:cs typeface="Avenir Next"/>
              </a:defRPr>
            </a:pPr>
            <a:r>
              <a:t>3,992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D7E0E0A-0407-4137-B471-DC346DEF56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2105025"/>
            <a:ext cx="190500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F5F1E8"/>
                </a:solidFill>
                <a:latin typeface="PingFang SC"/>
                <a:ea typeface="PingFang SC"/>
                <a:cs typeface="PingFang SC"/>
              </a:defRPr>
            </a:pPr>
            <a:r>
              <a:t>K 线记录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142BCD8-68C4-44A8-8EAC-2C2F8C9A31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2533650"/>
            <a:ext cx="1905000" cy="4191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F2B84B"/>
                </a:solidFill>
                <a:latin typeface="Avenir Next"/>
                <a:ea typeface="Avenir Next"/>
                <a:cs typeface="Avenir Next"/>
              </a:defRPr>
            </a:pPr>
            <a:r>
              <a:t>33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0290702-4AC8-4B4F-A9FD-28212EDE99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2981325"/>
            <a:ext cx="190500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F5F1E8"/>
                </a:solidFill>
                <a:latin typeface="PingFang SC"/>
                <a:ea typeface="PingFang SC"/>
                <a:cs typeface="PingFang SC"/>
              </a:defRPr>
            </a:pPr>
            <a:r>
              <a:t>回测记录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82A08EF-BE17-492E-9F54-78820C9AF6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3409950"/>
            <a:ext cx="1905000" cy="4191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4C8DFF"/>
                </a:solidFill>
                <a:latin typeface="Avenir Next"/>
                <a:ea typeface="Avenir Next"/>
                <a:cs typeface="Avenir Next"/>
              </a:defRPr>
            </a:pPr>
            <a:r>
              <a:t>10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C91CE6F-329D-4B1F-9E82-45F9D30D55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3857625"/>
            <a:ext cx="190500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F5F1E8"/>
                </a:solidFill>
                <a:latin typeface="PingFang SC"/>
                <a:ea typeface="PingFang SC"/>
                <a:cs typeface="PingFang SC"/>
              </a:defRPr>
            </a:pPr>
            <a:r>
              <a:t>AI 分析记录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47DECC5-C68A-460B-B025-69C554A91B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5467350"/>
            <a:ext cx="11087100" cy="514350"/>
          </a:xfrm>
          <a:prstGeom xmlns:a="http://schemas.openxmlformats.org/drawingml/2006/main" prst="roundRect">
            <a:avLst>
              <a:gd name="adj" fmla="val 22222"/>
            </a:avLst>
          </a:prstGeom>
          <a:solidFill xmlns:a="http://schemas.openxmlformats.org/drawingml/2006/main">
            <a:srgbClr val="0C1F2C"/>
          </a:solidFill>
          <a:ln xmlns:a="http://schemas.openxmlformats.org/drawingml/2006/main" w="9525">
            <a:solidFill>
              <a:srgbClr val="294554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E315112-C849-4AC6-9077-1A011E2915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5600700"/>
            <a:ext cx="10553700" cy="247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F5F1E8"/>
                </a:solidFill>
                <a:latin typeface="PingFang SC"/>
                <a:ea typeface="PingFang SC"/>
                <a:cs typeface="PingFang SC"/>
              </a:defRPr>
            </a:pPr>
            <a:r>
              <a:t>答辩重点：平台如何把行情数据、回测任务和智能分析组织成可运行的工程系统。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142B496-B2A0-4875-99CB-0EB1B637C6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534150"/>
            <a:ext cx="3143250" cy="152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8AA0A8"/>
                </a:solidFill>
                <a:latin typeface="Avenir Next"/>
                <a:ea typeface="Avenir Next"/>
                <a:cs typeface="Avenir Next"/>
              </a:defRPr>
            </a:pPr>
            <a:r>
              <a:t>QUANT PLATFORM / COURSE DEFENSE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BAFAF99B-40BA-41E7-8531-5AEEA55B9F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6534150"/>
            <a:ext cx="6858000" cy="152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750" b="0">
                <a:solidFill>
                  <a:srgbClr val="8AA0A8"/>
                </a:solidFill>
                <a:latin typeface="PingFang SC"/>
                <a:ea typeface="PingFang SC"/>
                <a:cs typeface="PingFang SC"/>
              </a:defRPr>
            </a:pPr>
            <a:r>
              <a:t>2026-06-18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3FB95138-510D-4F56-A04E-5D09DA609F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534150"/>
            <a:ext cx="304800" cy="152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750" b="1">
                <a:solidFill>
                  <a:srgbClr val="8AA0A8"/>
                </a:solidFill>
                <a:latin typeface="Avenir Next"/>
                <a:ea typeface="Avenir Next"/>
                <a:cs typeface="Avenir Next"/>
              </a:defRPr>
            </a:pPr>
            <a:r>
              <a:t>01</a:t>
            </a:r>
          </a:p>
        </p:txBody>
      </p:sp>
    </p:spTree>
    <p:extLst>
      <p:ext uri="{BB962C8B-B14F-4D97-AF65-F5344CB8AC3E}">
        <p14:creationId xmlns:p14="http://schemas.microsoft.com/office/powerpoint/2010/main" val="672930498"/>
      </p:ext>
    </p:extLst>
  </p:cSld>
</p:sld>
</file>

<file path=ppt/slides/slide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slide-background">
            <a:extLst xmlns:a="http://schemas.openxmlformats.org/drawingml/2006/main">
              <a:ext uri="{FF2B5EF4-FFF2-40B4-BE49-F238E27FC236}">
                <a16:creationId xmlns:a16="http://schemas.microsoft.com/office/drawing/2014/main" id="{21C98089-31F0-4ED7-AFC9-E648546CFE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1E8"/>
          </a:solidFill>
          <a:ln xmlns:a="http://schemas.openxmlformats.org/drawingml/2006/main" w="0">
            <a:solidFill>
              <a:srgbClr val="F5F1E8"/>
            </a:solidFill>
            <a:prstDash val="solid"/>
          </a:ln>
        </p:spPr>
      </p:sp>
      <p:sp>
        <p:nvSpPr>
          <p:cNvPr id="2" name="kicker-marker">
            <a:extLst xmlns:a="http://schemas.openxmlformats.org/drawingml/2006/main">
              <a:ext uri="{FF2B5EF4-FFF2-40B4-BE49-F238E27FC236}">
                <a16:creationId xmlns:a16="http://schemas.microsoft.com/office/drawing/2014/main" id="{0EB45E6B-AD8A-4E6E-8B08-C2BEF01C3B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09575"/>
            <a:ext cx="76200" cy="762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DD4BF"/>
          </a:solidFill>
          <a:ln xmlns:a="http://schemas.openxmlformats.org/drawingml/2006/main" w="0">
            <a:solidFill>
              <a:srgbClr val="2DD4BF"/>
            </a:solidFill>
            <a:prstDash val="solid"/>
          </a:ln>
        </p:spPr>
      </p:sp>
      <p:sp>
        <p:nvSpPr>
          <p:cNvPr id="3" name="kicker-label">
            <a:extLst xmlns:a="http://schemas.openxmlformats.org/drawingml/2006/main">
              <a:ext uri="{FF2B5EF4-FFF2-40B4-BE49-F238E27FC236}">
                <a16:creationId xmlns:a16="http://schemas.microsoft.com/office/drawing/2014/main" id="{C976BE36-99CA-4641-BBB6-DDD383B14C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14325"/>
            <a:ext cx="409575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071521"/>
                </a:solidFill>
                <a:latin typeface="Avenir Next"/>
                <a:ea typeface="Avenir Next"/>
                <a:cs typeface="Avenir Next"/>
              </a:defRPr>
            </a:pPr>
            <a:r>
              <a:t>BACKGROUND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8E360CA-6CCF-4FBB-8AB1-24C5D2FB81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838200"/>
            <a:ext cx="8572500" cy="4762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071521"/>
                </a:solidFill>
                <a:latin typeface="PingFang SC"/>
                <a:ea typeface="PingFang SC"/>
                <a:cs typeface="PingFang SC"/>
              </a:defRPr>
            </a:pPr>
            <a:r>
              <a:t>项目背景与建设目标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B5315C2-E63C-442D-B674-36B7ADD42B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409700"/>
            <a:ext cx="9334500" cy="323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B707B"/>
                </a:solidFill>
                <a:latin typeface="PingFang SC"/>
                <a:ea typeface="PingFang SC"/>
                <a:cs typeface="PingFang SC"/>
              </a:defRPr>
            </a:pPr>
            <a:r>
              <a:t>课程项目围绕个人量化研究流程展开，重点实现行情观察、策略回测、结果分析和演示可复现。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84D7B49-E779-4AE5-AD8D-66DE7BB39D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266950"/>
            <a:ext cx="3143250" cy="2095500"/>
          </a:xfrm>
          <a:prstGeom xmlns:a="http://schemas.openxmlformats.org/drawingml/2006/main" prst="roundRect">
            <a:avLst>
              <a:gd name="adj" fmla="val 727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E1DE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798CF4A-1D29-4849-88D5-33D29205D1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514600"/>
            <a:ext cx="400050" cy="571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DD4BF"/>
          </a:solidFill>
          <a:ln xmlns:a="http://schemas.openxmlformats.org/drawingml/2006/main" w="0">
            <a:solidFill>
              <a:srgbClr val="2DD4BF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4F14EE0-B0C3-44B4-9E3E-59A79C4039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819400"/>
            <a:ext cx="2667000" cy="304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71521"/>
                </a:solidFill>
                <a:latin typeface="PingFang SC"/>
                <a:ea typeface="PingFang SC"/>
                <a:cs typeface="PingFang SC"/>
              </a:defRPr>
            </a:pPr>
            <a:r>
              <a:t>行情数据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7AC6F38-1E03-446A-B95C-A74EBF6291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352800"/>
            <a:ext cx="2571750" cy="590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B707B"/>
                </a:solidFill>
                <a:latin typeface="PingFang SC"/>
                <a:ea typeface="PingFang SC"/>
                <a:cs typeface="PingFang SC"/>
              </a:defRPr>
            </a:pPr>
            <a:r>
              <a:t>需要支持近期 K 线同步、展示和存储，保证回测人员可以选择较新的时间段。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B3D5310-E976-48DD-92A9-05728C3644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24375" y="2266950"/>
            <a:ext cx="3143250" cy="2095500"/>
          </a:xfrm>
          <a:prstGeom xmlns:a="http://schemas.openxmlformats.org/drawingml/2006/main" prst="roundRect">
            <a:avLst>
              <a:gd name="adj" fmla="val 727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E1DE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AB5C322-8FFB-440D-9410-AC45980418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52975" y="2514600"/>
            <a:ext cx="400050" cy="571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2B84B"/>
          </a:solidFill>
          <a:ln xmlns:a="http://schemas.openxmlformats.org/drawingml/2006/main" w="0">
            <a:solidFill>
              <a:srgbClr val="F2B84B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2031F51-1409-4BF2-9C48-20C68AE9CA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52975" y="2819400"/>
            <a:ext cx="2667000" cy="304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71521"/>
                </a:solidFill>
                <a:latin typeface="PingFang SC"/>
                <a:ea typeface="PingFang SC"/>
                <a:cs typeface="PingFang SC"/>
              </a:defRPr>
            </a:pPr>
            <a:r>
              <a:t>回测研究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8502863-1033-426F-96A6-808CCB965B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52975" y="3352800"/>
            <a:ext cx="2571750" cy="590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B707B"/>
                </a:solidFill>
                <a:latin typeface="PingFang SC"/>
                <a:ea typeface="PingFang SC"/>
                <a:cs typeface="PingFang SC"/>
              </a:defRPr>
            </a:pPr>
            <a:r>
              <a:t>支持不同周期、时间范围、初始资金和策略参数，结果需要能够保存和复查。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1449A6B-0900-4666-87E4-1627179B8F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96300" y="2266950"/>
            <a:ext cx="3143250" cy="2095500"/>
          </a:xfrm>
          <a:prstGeom xmlns:a="http://schemas.openxmlformats.org/drawingml/2006/main" prst="roundRect">
            <a:avLst>
              <a:gd name="adj" fmla="val 727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E1DE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04EB674-F187-4815-BB65-57D942D90E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24900" y="2514600"/>
            <a:ext cx="400050" cy="571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4C8DFF"/>
          </a:solidFill>
          <a:ln xmlns:a="http://schemas.openxmlformats.org/drawingml/2006/main" w="0">
            <a:solidFill>
              <a:srgbClr val="4C8DFF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2944D4E-88D6-404D-B113-96794602B1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24900" y="2819400"/>
            <a:ext cx="2667000" cy="304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71521"/>
                </a:solidFill>
                <a:latin typeface="PingFang SC"/>
                <a:ea typeface="PingFang SC"/>
                <a:cs typeface="PingFang SC"/>
              </a:defRPr>
            </a:pPr>
            <a:r>
              <a:t>智能分析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CE518FF-736C-4B4D-9EB5-3D986C4525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24900" y="3352800"/>
            <a:ext cx="2571750" cy="590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B707B"/>
                </a:solidFill>
                <a:latin typeface="PingFang SC"/>
                <a:ea typeface="PingFang SC"/>
                <a:cs typeface="PingFang SC"/>
              </a:defRPr>
            </a:pPr>
            <a:r>
              <a:t>在回测结果基础上接入大语言模型，输出风险提示、策略评价和调参建议。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F3784A6-4922-4BAC-AB69-5C82052A52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991100"/>
            <a:ext cx="11087100" cy="685800"/>
          </a:xfrm>
          <a:prstGeom xmlns:a="http://schemas.openxmlformats.org/drawingml/2006/main" prst="roundRect">
            <a:avLst>
              <a:gd name="adj" fmla="val 19444"/>
            </a:avLst>
          </a:prstGeom>
          <a:solidFill xmlns:a="http://schemas.openxmlformats.org/drawingml/2006/main">
            <a:srgbClr val="071521"/>
          </a:solidFill>
          <a:ln xmlns:a="http://schemas.openxmlformats.org/drawingml/2006/main" w="0">
            <a:solidFill>
              <a:srgbClr val="071521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6BF4335C-DFDD-46D5-84EA-C2FF6E2CA4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5172075"/>
            <a:ext cx="10553700" cy="304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F5F1E8"/>
                </a:solidFill>
                <a:latin typeface="PingFang SC"/>
                <a:ea typeface="PingFang SC"/>
                <a:cs typeface="PingFang SC"/>
              </a:defRPr>
            </a:pPr>
            <a:r>
              <a:t>阶段目标：完成一个可登录、可同步行情、可提交回测任务、可生成 AI 分析的课程演示平台。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1636DD8D-1072-468D-BD1F-49E7F48150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534150"/>
            <a:ext cx="3143250" cy="152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5B707B"/>
                </a:solidFill>
                <a:latin typeface="Avenir Next"/>
                <a:ea typeface="Avenir Next"/>
                <a:cs typeface="Avenir Next"/>
              </a:defRPr>
            </a:pPr>
            <a:r>
              <a:t>QUANT PLATFORM / COURSE DEFENSE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81EB2D8A-D71B-4E39-9EC4-F4F28DCD67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6534150"/>
            <a:ext cx="6858000" cy="152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750" b="0">
                <a:solidFill>
                  <a:srgbClr val="5B707B"/>
                </a:solidFill>
                <a:latin typeface="PingFang SC"/>
                <a:ea typeface="PingFang SC"/>
                <a:cs typeface="PingFang SC"/>
              </a:defRPr>
            </a:pPr>
            <a:r>
              <a:t>来源：docs/project_report.md / docs/demo_runbook.md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BC6876CF-1C3F-4AD7-941F-34E15D4B55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534150"/>
            <a:ext cx="304800" cy="152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750" b="1">
                <a:solidFill>
                  <a:srgbClr val="5B707B"/>
                </a:solidFill>
                <a:latin typeface="Avenir Next"/>
                <a:ea typeface="Avenir Next"/>
                <a:cs typeface="Avenir Next"/>
              </a:defRPr>
            </a:pPr>
            <a:r>
              <a:t>02</a:t>
            </a:r>
          </a:p>
        </p:txBody>
      </p:sp>
    </p:spTree>
    <p:extLst>
      <p:ext uri="{BB962C8B-B14F-4D97-AF65-F5344CB8AC3E}">
        <p14:creationId xmlns:p14="http://schemas.microsoft.com/office/powerpoint/2010/main" val="897183264"/>
      </p:ext>
    </p:extLst>
  </p:cSld>
</p:sld>
</file>

<file path=ppt/slides/slide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slide-background">
            <a:extLst xmlns:a="http://schemas.openxmlformats.org/drawingml/2006/main">
              <a:ext uri="{FF2B5EF4-FFF2-40B4-BE49-F238E27FC236}">
                <a16:creationId xmlns:a16="http://schemas.microsoft.com/office/drawing/2014/main" id="{DC1AE65C-2487-4EAF-BA0D-4E402D7B27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521"/>
          </a:solidFill>
          <a:ln xmlns:a="http://schemas.openxmlformats.org/drawingml/2006/main" w="0">
            <a:solidFill>
              <a:srgbClr val="071521"/>
            </a:solidFill>
            <a:prstDash val="solid"/>
          </a:ln>
        </p:spPr>
      </p:sp>
      <p:sp>
        <p:nvSpPr>
          <p:cNvPr id="2" name="kicker-marker">
            <a:extLst xmlns:a="http://schemas.openxmlformats.org/drawingml/2006/main">
              <a:ext uri="{FF2B5EF4-FFF2-40B4-BE49-F238E27FC236}">
                <a16:creationId xmlns:a16="http://schemas.microsoft.com/office/drawing/2014/main" id="{424C31A5-5B0B-40DE-B11D-BF226E943D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09575"/>
            <a:ext cx="76200" cy="762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DD4BF"/>
          </a:solidFill>
          <a:ln xmlns:a="http://schemas.openxmlformats.org/drawingml/2006/main" w="0">
            <a:solidFill>
              <a:srgbClr val="2DD4BF"/>
            </a:solidFill>
            <a:prstDash val="solid"/>
          </a:ln>
        </p:spPr>
      </p:sp>
      <p:sp>
        <p:nvSpPr>
          <p:cNvPr id="3" name="kicker-label">
            <a:extLst xmlns:a="http://schemas.openxmlformats.org/drawingml/2006/main">
              <a:ext uri="{FF2B5EF4-FFF2-40B4-BE49-F238E27FC236}">
                <a16:creationId xmlns:a16="http://schemas.microsoft.com/office/drawing/2014/main" id="{DAFDCE19-E232-423A-AE79-A5821FEDA3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14325"/>
            <a:ext cx="409575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071521"/>
                </a:solidFill>
                <a:latin typeface="Avenir Next"/>
                <a:ea typeface="Avenir Next"/>
                <a:cs typeface="Avenir Next"/>
              </a:defRPr>
            </a:pPr>
            <a:r>
              <a:t>SCOPE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AC3CB71-2A4D-4032-81AC-FAC6548937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838200"/>
            <a:ext cx="8572500" cy="4762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F5F1E8"/>
                </a:solidFill>
                <a:latin typeface="PingFang SC"/>
                <a:ea typeface="PingFang SC"/>
                <a:cs typeface="PingFang SC"/>
              </a:defRPr>
            </a:pPr>
            <a:r>
              <a:t>需求范围与完成情况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855F698-8718-4B01-8346-1B1D2C960C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409700"/>
            <a:ext cx="9334500" cy="323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B7C6CA"/>
                </a:solidFill>
                <a:latin typeface="PingFang SC"/>
                <a:ea typeface="PingFang SC"/>
                <a:cs typeface="PingFang SC"/>
              </a:defRPr>
            </a:pPr>
            <a:r>
              <a:t>本期实现聚焦课程结项演示，先保证核心链路完整，再保留后续工程化扩展方向。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E2AAD15-78E0-4283-B9B5-427D0D9E1A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095500"/>
            <a:ext cx="11087100" cy="3276600"/>
          </a:xfrm>
          <a:prstGeom xmlns:a="http://schemas.openxmlformats.org/drawingml/2006/main" prst="roundRect">
            <a:avLst>
              <a:gd name="adj" fmla="val 5233"/>
            </a:avLst>
          </a:prstGeom>
          <a:solidFill xmlns:a="http://schemas.openxmlformats.org/drawingml/2006/main">
            <a:srgbClr val="102838"/>
          </a:solidFill>
          <a:ln xmlns:a="http://schemas.openxmlformats.org/drawingml/2006/main" w="0">
            <a:solidFill>
              <a:srgbClr val="102838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10A9771-ABB3-4AA1-A835-30E422B497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419350"/>
            <a:ext cx="1238250" cy="361950"/>
          </a:xfrm>
          <a:prstGeom xmlns:a="http://schemas.openxmlformats.org/drawingml/2006/main" prst="roundRect">
            <a:avLst>
              <a:gd name="adj" fmla="val 21053"/>
            </a:avLst>
          </a:prstGeom>
          <a:solidFill xmlns:a="http://schemas.openxmlformats.org/drawingml/2006/main">
            <a:srgbClr val="2DD4BF"/>
          </a:solidFill>
          <a:ln xmlns:a="http://schemas.openxmlformats.org/drawingml/2006/main" w="0">
            <a:solidFill>
              <a:srgbClr val="2DD4BF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489D440-397D-41C0-95BF-0AE713AFA3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486025"/>
            <a:ext cx="123825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071521"/>
                </a:solidFill>
                <a:latin typeface="PingFang SC"/>
                <a:ea typeface="PingFang SC"/>
                <a:cs typeface="PingFang SC"/>
              </a:defRPr>
            </a:pPr>
            <a:r>
              <a:t>已完成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9BE659A-91B9-44BB-B513-BA3841EFF1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0" y="2457450"/>
            <a:ext cx="809625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5F1E8"/>
                </a:solidFill>
                <a:latin typeface="PingFang SC"/>
                <a:ea typeface="PingFang SC"/>
                <a:cs typeface="PingFang SC"/>
              </a:defRPr>
            </a:pPr>
            <a:r>
              <a:t>注册登录、用户隔离、策略管理、历史记录、演示脚本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79D7CDB-C404-4AC9-96EB-991235583E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048000"/>
            <a:ext cx="1238250" cy="361950"/>
          </a:xfrm>
          <a:prstGeom xmlns:a="http://schemas.openxmlformats.org/drawingml/2006/main" prst="roundRect">
            <a:avLst>
              <a:gd name="adj" fmla="val 21053"/>
            </a:avLst>
          </a:prstGeom>
          <a:solidFill xmlns:a="http://schemas.openxmlformats.org/drawingml/2006/main">
            <a:srgbClr val="F2B84B"/>
          </a:solidFill>
          <a:ln xmlns:a="http://schemas.openxmlformats.org/drawingml/2006/main" w="0">
            <a:solidFill>
              <a:srgbClr val="F2B84B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8C86934-1A91-465D-8DAE-A4A91DE81E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114675"/>
            <a:ext cx="123825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071521"/>
                </a:solidFill>
                <a:latin typeface="PingFang SC"/>
                <a:ea typeface="PingFang SC"/>
                <a:cs typeface="PingFang SC"/>
              </a:defRPr>
            </a:pPr>
            <a:r>
              <a:t>已完成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AEEE91E-1A70-44DB-B1A5-0573BC1737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0" y="3086100"/>
            <a:ext cx="809625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5F1E8"/>
                </a:solidFill>
                <a:latin typeface="PingFang SC"/>
                <a:ea typeface="PingFang SC"/>
                <a:cs typeface="PingFang SC"/>
              </a:defRPr>
            </a:pPr>
            <a:r>
              <a:t>Binance K 线同步、数据库存储、数据健康检查、周期切换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193B48E-D315-4B8F-9E01-151C03BDC2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676650"/>
            <a:ext cx="1238250" cy="361950"/>
          </a:xfrm>
          <a:prstGeom xmlns:a="http://schemas.openxmlformats.org/drawingml/2006/main" prst="roundRect">
            <a:avLst>
              <a:gd name="adj" fmla="val 21053"/>
            </a:avLst>
          </a:prstGeom>
          <a:solidFill xmlns:a="http://schemas.openxmlformats.org/drawingml/2006/main">
            <a:srgbClr val="4C8DFF"/>
          </a:solidFill>
          <a:ln xmlns:a="http://schemas.openxmlformats.org/drawingml/2006/main" w="0">
            <a:solidFill>
              <a:srgbClr val="4C8DFF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1BB362C-8A64-4130-8DE8-68912C8502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743325"/>
            <a:ext cx="123825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071521"/>
                </a:solidFill>
                <a:latin typeface="PingFang SC"/>
                <a:ea typeface="PingFang SC"/>
                <a:cs typeface="PingFang SC"/>
              </a:defRPr>
            </a:pPr>
            <a:r>
              <a:t>已完成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D7B8431-0780-4A79-9A61-2254D78E8E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0" y="3714750"/>
            <a:ext cx="809625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5F1E8"/>
                </a:solidFill>
                <a:latin typeface="PingFang SC"/>
                <a:ea typeface="PingFang SC"/>
                <a:cs typeface="PingFang SC"/>
              </a:defRPr>
            </a:pPr>
            <a:r>
              <a:t>内置策略与自定义策略回测、异步任务、取消、重试、失败恢复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FA41926-8EFD-429D-8BCF-E3741EF5DF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305300"/>
            <a:ext cx="1238250" cy="361950"/>
          </a:xfrm>
          <a:prstGeom xmlns:a="http://schemas.openxmlformats.org/drawingml/2006/main" prst="roundRect">
            <a:avLst>
              <a:gd name="adj" fmla="val 21053"/>
            </a:avLst>
          </a:prstGeom>
          <a:solidFill xmlns:a="http://schemas.openxmlformats.org/drawingml/2006/main">
            <a:srgbClr val="D75A5A"/>
          </a:solidFill>
          <a:ln xmlns:a="http://schemas.openxmlformats.org/drawingml/2006/main" w="0">
            <a:solidFill>
              <a:srgbClr val="D75A5A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58927CE-7ACB-447E-97C7-78FF4098CB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371975"/>
            <a:ext cx="123825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071521"/>
                </a:solidFill>
                <a:latin typeface="PingFang SC"/>
                <a:ea typeface="PingFang SC"/>
                <a:cs typeface="PingFang SC"/>
              </a:defRPr>
            </a:pPr>
            <a:r>
              <a:t>已完成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BF65339-CA85-4547-99C5-63A3E8AC97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0" y="4343400"/>
            <a:ext cx="809625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5F1E8"/>
                </a:solidFill>
                <a:latin typeface="PingFang SC"/>
                <a:ea typeface="PingFang SC"/>
                <a:cs typeface="PingFang SC"/>
              </a:defRPr>
            </a:pPr>
            <a:r>
              <a:t>Gemini / OpenAI / 本地引擎切换，AI 分析结果持久化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FA467209-1D53-4FBD-A66F-EFF26A8780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5676900"/>
            <a:ext cx="10439400" cy="381000"/>
          </a:xfrm>
          <a:prstGeom xmlns:a="http://schemas.openxmlformats.org/drawingml/2006/main" prst="roundRect">
            <a:avLst>
              <a:gd name="adj" fmla="val 25000"/>
            </a:avLst>
          </a:prstGeom>
          <a:solidFill xmlns:a="http://schemas.openxmlformats.org/drawingml/2006/main">
            <a:srgbClr val="06101A"/>
          </a:solidFill>
          <a:ln xmlns:a="http://schemas.openxmlformats.org/drawingml/2006/main" w="9525">
            <a:solidFill>
              <a:srgbClr val="294554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39128901-033F-4F6A-A063-3405FA2C52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5762625"/>
            <a:ext cx="1000125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0">
                <a:solidFill>
                  <a:srgbClr val="F5F1E8"/>
                </a:solidFill>
                <a:latin typeface="PingFang SC"/>
                <a:ea typeface="PingFang SC"/>
                <a:cs typeface="PingFang SC"/>
              </a:defRPr>
            </a:pPr>
            <a:r>
              <a:t>当前范围：加密货币现货多头；标的以 BTCUSDT 为主；周期覆盖 1m、1h、1d。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C5EB37B1-69A6-4629-B640-9F2D2F351E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534150"/>
            <a:ext cx="3143250" cy="152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8AA0A8"/>
                </a:solidFill>
                <a:latin typeface="Avenir Next"/>
                <a:ea typeface="Avenir Next"/>
                <a:cs typeface="Avenir Next"/>
              </a:defRPr>
            </a:pPr>
            <a:r>
              <a:t>QUANT PLATFORM / COURSE DEFENSE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95DE04CB-4143-4210-B83A-55550FDD2A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6534150"/>
            <a:ext cx="6858000" cy="152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750" b="0">
                <a:solidFill>
                  <a:srgbClr val="8AA0A8"/>
                </a:solidFill>
                <a:latin typeface="PingFang SC"/>
                <a:ea typeface="PingFang SC"/>
                <a:cs typeface="PingFang SC"/>
              </a:defRPr>
            </a:pPr>
            <a:r>
              <a:t>来源：docs/architecture.md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D5DEBDA1-09D0-453E-A935-406B2249D1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534150"/>
            <a:ext cx="304800" cy="152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750" b="1">
                <a:solidFill>
                  <a:srgbClr val="8AA0A8"/>
                </a:solidFill>
                <a:latin typeface="Avenir Next"/>
                <a:ea typeface="Avenir Next"/>
                <a:cs typeface="Avenir Next"/>
              </a:defRPr>
            </a:pPr>
            <a:r>
              <a:t>03</a:t>
            </a:r>
          </a:p>
        </p:txBody>
      </p:sp>
    </p:spTree>
    <p:extLst>
      <p:ext uri="{BB962C8B-B14F-4D97-AF65-F5344CB8AC3E}">
        <p14:creationId xmlns:p14="http://schemas.microsoft.com/office/powerpoint/2010/main" val="1752637417"/>
      </p:ext>
    </p:extLst>
  </p:cSld>
</p:sld>
</file>

<file path=ppt/slides/slide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slide-background">
            <a:extLst xmlns:a="http://schemas.openxmlformats.org/drawingml/2006/main">
              <a:ext uri="{FF2B5EF4-FFF2-40B4-BE49-F238E27FC236}">
                <a16:creationId xmlns:a16="http://schemas.microsoft.com/office/drawing/2014/main" id="{859E7BA4-98C7-4E8A-BF85-AABF67E107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1E8"/>
          </a:solidFill>
          <a:ln xmlns:a="http://schemas.openxmlformats.org/drawingml/2006/main" w="0">
            <a:solidFill>
              <a:srgbClr val="F5F1E8"/>
            </a:solidFill>
            <a:prstDash val="solid"/>
          </a:ln>
        </p:spPr>
      </p:sp>
      <p:sp>
        <p:nvSpPr>
          <p:cNvPr id="2" name="kicker-marker">
            <a:extLst xmlns:a="http://schemas.openxmlformats.org/drawingml/2006/main">
              <a:ext uri="{FF2B5EF4-FFF2-40B4-BE49-F238E27FC236}">
                <a16:creationId xmlns:a16="http://schemas.microsoft.com/office/drawing/2014/main" id="{5FC56F7F-96CD-4DB4-8D17-C9C642149D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09575"/>
            <a:ext cx="76200" cy="762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DD4BF"/>
          </a:solidFill>
          <a:ln xmlns:a="http://schemas.openxmlformats.org/drawingml/2006/main" w="0">
            <a:solidFill>
              <a:srgbClr val="2DD4BF"/>
            </a:solidFill>
            <a:prstDash val="solid"/>
          </a:ln>
        </p:spPr>
      </p:sp>
      <p:sp>
        <p:nvSpPr>
          <p:cNvPr id="3" name="kicker-label">
            <a:extLst xmlns:a="http://schemas.openxmlformats.org/drawingml/2006/main">
              <a:ext uri="{FF2B5EF4-FFF2-40B4-BE49-F238E27FC236}">
                <a16:creationId xmlns:a16="http://schemas.microsoft.com/office/drawing/2014/main" id="{693AFCFC-DA86-41B8-B068-6A7648CF4E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14325"/>
            <a:ext cx="409575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071521"/>
                </a:solidFill>
                <a:latin typeface="Avenir Next"/>
                <a:ea typeface="Avenir Next"/>
                <a:cs typeface="Avenir Next"/>
              </a:defRPr>
            </a:pPr>
            <a:r>
              <a:t>TECH STACK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A892949-2027-4914-8D8A-3FF99D4F0E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838200"/>
            <a:ext cx="8572500" cy="4762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071521"/>
                </a:solidFill>
                <a:latin typeface="PingFang SC"/>
                <a:ea typeface="PingFang SC"/>
                <a:cs typeface="PingFang SC"/>
              </a:defRPr>
            </a:pPr>
            <a:r>
              <a:t>平台技术栈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518BEAA-6872-44ED-B69A-3089F66C7F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409700"/>
            <a:ext cx="9906000" cy="323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B707B"/>
                </a:solidFill>
                <a:latin typeface="PingFang SC"/>
                <a:ea typeface="PingFang SC"/>
                <a:cs typeface="PingFang SC"/>
              </a:defRPr>
            </a:pPr>
            <a:r>
              <a:t>系统采用前后端分离结构，后端内置独立量化引擎，并通过数据库保存行情、任务和分析结果。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4386C40-ABFD-42CD-9AC4-97E78078AA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152650"/>
            <a:ext cx="2362200" cy="1123950"/>
          </a:xfrm>
          <a:prstGeom xmlns:a="http://schemas.openxmlformats.org/drawingml/2006/main" prst="roundRect">
            <a:avLst>
              <a:gd name="adj" fmla="val 1186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4C8DFF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A9A2290-DB3E-481D-9EB4-9E9E95A510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343150"/>
            <a:ext cx="19431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071521"/>
                </a:solidFill>
                <a:latin typeface="PingFang SC"/>
                <a:ea typeface="PingFang SC"/>
                <a:cs typeface="PingFang SC"/>
              </a:defRPr>
            </a:pPr>
            <a:r>
              <a:t>前端展示层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F891955-F277-4418-A9B6-87B1C79E96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705100"/>
            <a:ext cx="1943100" cy="381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5B707B"/>
                </a:solidFill>
                <a:latin typeface="Avenir Next"/>
                <a:ea typeface="Avenir Next"/>
                <a:cs typeface="Avenir Next"/>
              </a:defRPr>
            </a:pPr>
            <a:r>
              <a:t>Vue 3 · Vite · ECharts · Axios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244418E-778A-49A9-94B3-137DEF9B88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95650" y="2152650"/>
            <a:ext cx="2362200" cy="1123950"/>
          </a:xfrm>
          <a:prstGeom xmlns:a="http://schemas.openxmlformats.org/drawingml/2006/main" prst="roundRect">
            <a:avLst>
              <a:gd name="adj" fmla="val 1186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2DD4BF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44B2358-B554-4D85-879F-434843DBD1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05200" y="2343150"/>
            <a:ext cx="19431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071521"/>
                </a:solidFill>
                <a:latin typeface="PingFang SC"/>
                <a:ea typeface="PingFang SC"/>
                <a:cs typeface="PingFang SC"/>
              </a:defRPr>
            </a:pPr>
            <a:r>
              <a:t>后端 API 层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5F2503E-8410-428B-85B9-23553AED91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05200" y="2705100"/>
            <a:ext cx="1943100" cy="381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5B707B"/>
                </a:solidFill>
                <a:latin typeface="Avenir Next"/>
                <a:ea typeface="Avenir Next"/>
                <a:cs typeface="Avenir Next"/>
              </a:defRPr>
            </a:pPr>
            <a:r>
              <a:t>FastAPI · Pydantic · JWT Auth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BADB23C-CA74-4372-9753-36F7F06763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38850" y="2152650"/>
            <a:ext cx="2362200" cy="1123950"/>
          </a:xfrm>
          <a:prstGeom xmlns:a="http://schemas.openxmlformats.org/drawingml/2006/main" prst="roundRect">
            <a:avLst>
              <a:gd name="adj" fmla="val 1186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F2B84B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48D8E18-961C-4714-9CC4-8DE6D0CFE3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2343150"/>
            <a:ext cx="19431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071521"/>
                </a:solidFill>
                <a:latin typeface="PingFang SC"/>
                <a:ea typeface="PingFang SC"/>
                <a:cs typeface="PingFang SC"/>
              </a:defRPr>
            </a:pPr>
            <a:r>
              <a:t>数据持久化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25E9098-51A3-4157-950D-5800B0DE12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2705100"/>
            <a:ext cx="1943100" cy="381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5B707B"/>
                </a:solidFill>
                <a:latin typeface="Avenir Next"/>
                <a:ea typeface="Avenir Next"/>
                <a:cs typeface="Avenir Next"/>
              </a:defRPr>
            </a:pPr>
            <a:r>
              <a:t>SQLAlchemy · Alembic · SQLite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E0F9D76-0A50-4F0E-A567-231897364E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82050" y="2152650"/>
            <a:ext cx="2362200" cy="1123950"/>
          </a:xfrm>
          <a:prstGeom xmlns:a="http://schemas.openxmlformats.org/drawingml/2006/main" prst="roundRect">
            <a:avLst>
              <a:gd name="adj" fmla="val 1186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D75A5A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B62DBD5-EEC7-4A65-B1B0-E6CBE25CB8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91600" y="2343150"/>
            <a:ext cx="19431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071521"/>
                </a:solidFill>
                <a:latin typeface="PingFang SC"/>
                <a:ea typeface="PingFang SC"/>
                <a:cs typeface="PingFang SC"/>
              </a:defRPr>
            </a:pPr>
            <a:r>
              <a:t>外部服务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2BEAFB3-CF65-4755-B263-257E518C67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91600" y="2705100"/>
            <a:ext cx="1943100" cy="381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5B707B"/>
                </a:solidFill>
                <a:latin typeface="Avenir Next"/>
                <a:ea typeface="Avenir Next"/>
                <a:cs typeface="Avenir Next"/>
              </a:defRPr>
            </a:pPr>
            <a:r>
              <a:t>Binance REST · Gemini / OpenAI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1C49081-CCC6-433B-90A5-085365E1C7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000500"/>
            <a:ext cx="11087100" cy="1257300"/>
          </a:xfrm>
          <a:prstGeom xmlns:a="http://schemas.openxmlformats.org/drawingml/2006/main" prst="roundRect">
            <a:avLst>
              <a:gd name="adj" fmla="val 12121"/>
            </a:avLst>
          </a:prstGeom>
          <a:solidFill xmlns:a="http://schemas.openxmlformats.org/drawingml/2006/main">
            <a:srgbClr val="071521"/>
          </a:solidFill>
          <a:ln xmlns:a="http://schemas.openxmlformats.org/drawingml/2006/main" w="0">
            <a:solidFill>
              <a:srgbClr val="071521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7136503B-EB99-42B7-A10A-56756C14C0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248150"/>
            <a:ext cx="34290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2DD4BF"/>
                </a:solidFill>
                <a:latin typeface="Avenir Next"/>
                <a:ea typeface="Avenir Next"/>
                <a:cs typeface="Avenir Next"/>
              </a:defRPr>
            </a:pPr>
            <a:r>
              <a:t>核心 Python 包：quant_engine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2B3286B9-C6C0-423F-993F-2D6BDED95E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4743450"/>
            <a:ext cx="148590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F5F1E8"/>
                </a:solidFill>
                <a:latin typeface="PingFang SC"/>
                <a:ea typeface="PingFang SC"/>
                <a:cs typeface="PingFang SC"/>
              </a:defRPr>
            </a:pPr>
            <a:r>
              <a:t>strategies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13FA8A0A-031F-4211-9BC4-D810A7CC89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4743450"/>
            <a:ext cx="148590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F5F1E8"/>
                </a:solidFill>
                <a:latin typeface="PingFang SC"/>
                <a:ea typeface="PingFang SC"/>
                <a:cs typeface="PingFang SC"/>
              </a:defRPr>
            </a:pPr>
            <a:r>
              <a:t>datafeed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E1470C3B-D7F1-4268-B337-175596309A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0" y="4743450"/>
            <a:ext cx="148590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F5F1E8"/>
                </a:solidFill>
                <a:latin typeface="PingFang SC"/>
                <a:ea typeface="PingFang SC"/>
                <a:cs typeface="PingFang SC"/>
              </a:defRPr>
            </a:pPr>
            <a:r>
              <a:t>broker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822201AD-6B00-4EF6-BC61-576C3DC164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4743450"/>
            <a:ext cx="148590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F5F1E8"/>
                </a:solidFill>
                <a:latin typeface="PingFang SC"/>
                <a:ea typeface="PingFang SC"/>
                <a:cs typeface="PingFang SC"/>
              </a:defRPr>
            </a:pPr>
            <a:r>
              <a:t>analyzer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167566AC-49A1-45E8-A2FF-97033E99D6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0" y="4743450"/>
            <a:ext cx="148590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F5F1E8"/>
                </a:solidFill>
                <a:latin typeface="PingFang SC"/>
                <a:ea typeface="PingFang SC"/>
                <a:cs typeface="PingFang SC"/>
              </a:defRPr>
            </a:pPr>
            <a:r>
              <a:t>models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285D9C05-E43E-4EBB-9062-C18C757029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534150"/>
            <a:ext cx="3143250" cy="152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5B707B"/>
                </a:solidFill>
                <a:latin typeface="Avenir Next"/>
                <a:ea typeface="Avenir Next"/>
                <a:cs typeface="Avenir Next"/>
              </a:defRPr>
            </a:pPr>
            <a:r>
              <a:t>QUANT PLATFORM / COURSE DEFENSE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A1386CA1-7774-474D-B673-752976AB8D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6534150"/>
            <a:ext cx="6858000" cy="152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750" b="0">
                <a:solidFill>
                  <a:srgbClr val="5B707B"/>
                </a:solidFill>
                <a:latin typeface="PingFang SC"/>
                <a:ea typeface="PingFang SC"/>
                <a:cs typeface="PingFang SC"/>
              </a:defRPr>
            </a:pPr>
            <a:r>
              <a:t>来源：frontend / backend / quant_engine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90DC3C15-1B17-4036-9861-A60518E83D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534150"/>
            <a:ext cx="304800" cy="152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750" b="1">
                <a:solidFill>
                  <a:srgbClr val="5B707B"/>
                </a:solidFill>
                <a:latin typeface="Avenir Next"/>
                <a:ea typeface="Avenir Next"/>
                <a:cs typeface="Avenir Next"/>
              </a:defRPr>
            </a:pPr>
            <a:r>
              <a:t>04</a:t>
            </a:r>
          </a:p>
        </p:txBody>
      </p:sp>
    </p:spTree>
    <p:extLst>
      <p:ext uri="{BB962C8B-B14F-4D97-AF65-F5344CB8AC3E}">
        <p14:creationId xmlns:p14="http://schemas.microsoft.com/office/powerpoint/2010/main" val="7404986"/>
      </p:ext>
    </p:extLst>
  </p:cSld>
</p:sld>
</file>

<file path=ppt/slides/slide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slide-background">
            <a:extLst xmlns:a="http://schemas.openxmlformats.org/drawingml/2006/main">
              <a:ext uri="{FF2B5EF4-FFF2-40B4-BE49-F238E27FC236}">
                <a16:creationId xmlns:a16="http://schemas.microsoft.com/office/drawing/2014/main" id="{2045504A-7D89-4F37-9FDE-E24A50D2DE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1E8"/>
          </a:solidFill>
          <a:ln xmlns:a="http://schemas.openxmlformats.org/drawingml/2006/main" w="0">
            <a:solidFill>
              <a:srgbClr val="F5F1E8"/>
            </a:solidFill>
            <a:prstDash val="solid"/>
          </a:ln>
        </p:spPr>
      </p:sp>
      <p:sp>
        <p:nvSpPr>
          <p:cNvPr id="2" name="kicker-marker">
            <a:extLst xmlns:a="http://schemas.openxmlformats.org/drawingml/2006/main">
              <a:ext uri="{FF2B5EF4-FFF2-40B4-BE49-F238E27FC236}">
                <a16:creationId xmlns:a16="http://schemas.microsoft.com/office/drawing/2014/main" id="{F864327F-5AD1-4FE6-BE0E-DE75EE396F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09575"/>
            <a:ext cx="76200" cy="762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DD4BF"/>
          </a:solidFill>
          <a:ln xmlns:a="http://schemas.openxmlformats.org/drawingml/2006/main" w="0">
            <a:solidFill>
              <a:srgbClr val="2DD4BF"/>
            </a:solidFill>
            <a:prstDash val="solid"/>
          </a:ln>
        </p:spPr>
      </p:sp>
      <p:sp>
        <p:nvSpPr>
          <p:cNvPr id="3" name="kicker-label">
            <a:extLst xmlns:a="http://schemas.openxmlformats.org/drawingml/2006/main">
              <a:ext uri="{FF2B5EF4-FFF2-40B4-BE49-F238E27FC236}">
                <a16:creationId xmlns:a16="http://schemas.microsoft.com/office/drawing/2014/main" id="{9275AB1F-FA0C-4C57-B403-2353134C89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14325"/>
            <a:ext cx="409575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071521"/>
                </a:solidFill>
                <a:latin typeface="Avenir Next"/>
                <a:ea typeface="Avenir Next"/>
                <a:cs typeface="Avenir Next"/>
              </a:defRPr>
            </a:pPr>
            <a:r>
              <a:t>ARCHITECTURE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7F48AD1-6E2E-4A7A-8D35-82A1D58567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838200"/>
            <a:ext cx="8572500" cy="4762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071521"/>
                </a:solidFill>
                <a:latin typeface="PingFang SC"/>
                <a:ea typeface="PingFang SC"/>
                <a:cs typeface="PingFang SC"/>
              </a:defRPr>
            </a:pPr>
            <a:r>
              <a:t>系统总体架构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79E5F42-73BC-48C9-916A-1B206D5AA8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409700"/>
            <a:ext cx="9906000" cy="323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B707B"/>
                </a:solidFill>
                <a:latin typeface="PingFang SC"/>
                <a:ea typeface="PingFang SC"/>
                <a:cs typeface="PingFang SC"/>
              </a:defRPr>
            </a:pPr>
            <a:r>
              <a:t>架构按职责分层：前端负责交互，后端编排业务流程，量化引擎执行计算，数据库保存状态。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2C8FFAE-89B5-4841-9A3C-F849A5D875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114550"/>
            <a:ext cx="10096500" cy="647700"/>
          </a:xfrm>
          <a:prstGeom xmlns:a="http://schemas.openxmlformats.org/drawingml/2006/main" prst="roundRect">
            <a:avLst>
              <a:gd name="adj" fmla="val 1764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E1DE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67267CC-1005-4B24-914E-C361E15279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114550"/>
            <a:ext cx="95250" cy="647700"/>
          </a:xfrm>
          <a:prstGeom xmlns:a="http://schemas.openxmlformats.org/drawingml/2006/main" prst="roundRect">
            <a:avLst>
              <a:gd name="adj" fmla="val 40000"/>
            </a:avLst>
          </a:prstGeom>
          <a:solidFill xmlns:a="http://schemas.openxmlformats.org/drawingml/2006/main">
            <a:srgbClr val="4C8DFF"/>
          </a:solidFill>
          <a:ln xmlns:a="http://schemas.openxmlformats.org/drawingml/2006/main" w="0">
            <a:solidFill>
              <a:srgbClr val="4C8DFF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6B78C63-2D39-44C4-B2C7-1565E91505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9700" y="2266950"/>
            <a:ext cx="2381250" cy="247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071521"/>
                </a:solidFill>
                <a:latin typeface="PingFang SC"/>
                <a:ea typeface="PingFang SC"/>
                <a:cs typeface="PingFang SC"/>
              </a:defRPr>
            </a:pPr>
            <a:r>
              <a:t>用户界面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C3D8863-E9C4-4581-A65C-323A5BB83A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2276475"/>
            <a:ext cx="619125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B707B"/>
                </a:solidFill>
                <a:latin typeface="PingFang SC"/>
                <a:ea typeface="PingFang SC"/>
                <a:cs typeface="PingFang SC"/>
              </a:defRPr>
            </a:pPr>
            <a:r>
              <a:t>登录、行情观察、策略管理、回测配置、结果展示、AI 分析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CEAECEC-2D17-4EE0-85C8-EECDD76AD6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57900" y="2800350"/>
            <a:ext cx="76200" cy="1714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C7D2CF"/>
          </a:solidFill>
          <a:ln xmlns:a="http://schemas.openxmlformats.org/drawingml/2006/main" w="0">
            <a:solidFill>
              <a:srgbClr val="C7D2CF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C8902B8-C190-42B5-82B4-F6F9913C5F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990850"/>
            <a:ext cx="10096500" cy="647700"/>
          </a:xfrm>
          <a:prstGeom xmlns:a="http://schemas.openxmlformats.org/drawingml/2006/main" prst="roundRect">
            <a:avLst>
              <a:gd name="adj" fmla="val 1764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E1DE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29BC00B-375C-4C5E-995E-22C3D4B22C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990850"/>
            <a:ext cx="95250" cy="647700"/>
          </a:xfrm>
          <a:prstGeom xmlns:a="http://schemas.openxmlformats.org/drawingml/2006/main" prst="roundRect">
            <a:avLst>
              <a:gd name="adj" fmla="val 40000"/>
            </a:avLst>
          </a:prstGeom>
          <a:solidFill xmlns:a="http://schemas.openxmlformats.org/drawingml/2006/main">
            <a:srgbClr val="2DD4BF"/>
          </a:solidFill>
          <a:ln xmlns:a="http://schemas.openxmlformats.org/drawingml/2006/main" w="0">
            <a:solidFill>
              <a:srgbClr val="2DD4BF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42B0043-9D90-451F-990B-171019F62A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9700" y="3143250"/>
            <a:ext cx="2381250" cy="247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071521"/>
                </a:solidFill>
                <a:latin typeface="PingFang SC"/>
                <a:ea typeface="PingFang SC"/>
                <a:cs typeface="PingFang SC"/>
              </a:defRPr>
            </a:pPr>
            <a:r>
              <a:t>FastAPI 服务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4F78453-A25D-46AD-B776-A962985CBC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3152775"/>
            <a:ext cx="619125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B707B"/>
                </a:solidFill>
                <a:latin typeface="PingFang SC"/>
                <a:ea typeface="PingFang SC"/>
                <a:cs typeface="PingFang SC"/>
              </a:defRPr>
            </a:pPr>
            <a:r>
              <a:t>鉴权、参数校验、任务创建、数据查询、AI 分析接口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5991E16-537C-4622-974E-A58F37F4C2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57900" y="3676650"/>
            <a:ext cx="76200" cy="1714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C7D2CF"/>
          </a:solidFill>
          <a:ln xmlns:a="http://schemas.openxmlformats.org/drawingml/2006/main" w="0">
            <a:solidFill>
              <a:srgbClr val="C7D2CF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A32EA21-C353-40BC-A30E-30E01CF33D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3867150"/>
            <a:ext cx="10096500" cy="647700"/>
          </a:xfrm>
          <a:prstGeom xmlns:a="http://schemas.openxmlformats.org/drawingml/2006/main" prst="roundRect">
            <a:avLst>
              <a:gd name="adj" fmla="val 1764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E1DE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F5EC581-B29C-4889-B09B-181FB7359D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3867150"/>
            <a:ext cx="95250" cy="647700"/>
          </a:xfrm>
          <a:prstGeom xmlns:a="http://schemas.openxmlformats.org/drawingml/2006/main" prst="roundRect">
            <a:avLst>
              <a:gd name="adj" fmla="val 40000"/>
            </a:avLst>
          </a:prstGeom>
          <a:solidFill xmlns:a="http://schemas.openxmlformats.org/drawingml/2006/main">
            <a:srgbClr val="F2B84B"/>
          </a:solidFill>
          <a:ln xmlns:a="http://schemas.openxmlformats.org/drawingml/2006/main" w="0">
            <a:solidFill>
              <a:srgbClr val="F2B84B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4E9600A-EA70-478D-872B-906BD5FEE9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9700" y="4019550"/>
            <a:ext cx="2381250" cy="247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071521"/>
                </a:solidFill>
                <a:latin typeface="PingFang SC"/>
                <a:ea typeface="PingFang SC"/>
                <a:cs typeface="PingFang SC"/>
              </a:defRPr>
            </a:pPr>
            <a:r>
              <a:t>业务服务层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F51A1319-EDF3-486E-915A-A56A3374AB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4029075"/>
            <a:ext cx="619125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B707B"/>
                </a:solidFill>
                <a:latin typeface="PingFang SC"/>
                <a:ea typeface="PingFang SC"/>
                <a:cs typeface="PingFang SC"/>
              </a:defRPr>
            </a:pPr>
            <a:r>
              <a:t>market_data_service、backtest_service、backtest_job_service、ai_analysis_service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2F8BBE79-0A08-4657-94C2-75027B7228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57900" y="4552950"/>
            <a:ext cx="76200" cy="1714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C7D2CF"/>
          </a:solidFill>
          <a:ln xmlns:a="http://schemas.openxmlformats.org/drawingml/2006/main" w="0">
            <a:solidFill>
              <a:srgbClr val="C7D2CF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467B7773-C7F1-47CB-8DAC-7DBDC023B7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4743450"/>
            <a:ext cx="10096500" cy="647700"/>
          </a:xfrm>
          <a:prstGeom xmlns:a="http://schemas.openxmlformats.org/drawingml/2006/main" prst="roundRect">
            <a:avLst>
              <a:gd name="adj" fmla="val 1764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E1DE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500E2555-0C0C-483E-B033-D10E40B738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4743450"/>
            <a:ext cx="95250" cy="647700"/>
          </a:xfrm>
          <a:prstGeom xmlns:a="http://schemas.openxmlformats.org/drawingml/2006/main" prst="roundRect">
            <a:avLst>
              <a:gd name="adj" fmla="val 40000"/>
            </a:avLst>
          </a:prstGeom>
          <a:solidFill xmlns:a="http://schemas.openxmlformats.org/drawingml/2006/main">
            <a:srgbClr val="D75A5A"/>
          </a:solidFill>
          <a:ln xmlns:a="http://schemas.openxmlformats.org/drawingml/2006/main" w="0">
            <a:solidFill>
              <a:srgbClr val="D75A5A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C80D1DEC-1469-46F3-94A3-042967C06C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9700" y="4895850"/>
            <a:ext cx="2381250" cy="247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071521"/>
                </a:solidFill>
                <a:latin typeface="PingFang SC"/>
                <a:ea typeface="PingFang SC"/>
                <a:cs typeface="PingFang SC"/>
              </a:defRPr>
            </a:pPr>
            <a:r>
              <a:t>核心与存储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FFF79E9F-A56D-4A05-86B8-5F7022FD3A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4905375"/>
            <a:ext cx="619125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B707B"/>
                </a:solidFill>
                <a:latin typeface="PingFang SC"/>
                <a:ea typeface="PingFang SC"/>
                <a:cs typeface="PingFang SC"/>
              </a:defRPr>
            </a:pPr>
            <a:r>
              <a:t>quant_engine 执行回测；SQLite 保存用户、策略、K 线、任务、结果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83233C69-FBF6-4811-9457-4F5FE94F18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5791200"/>
            <a:ext cx="11087100" cy="361950"/>
          </a:xfrm>
          <a:prstGeom xmlns:a="http://schemas.openxmlformats.org/drawingml/2006/main" prst="roundRect">
            <a:avLst>
              <a:gd name="adj" fmla="val 23684"/>
            </a:avLst>
          </a:prstGeom>
          <a:solidFill xmlns:a="http://schemas.openxmlformats.org/drawingml/2006/main">
            <a:srgbClr val="071521"/>
          </a:solidFill>
          <a:ln xmlns:a="http://schemas.openxmlformats.org/drawingml/2006/main" w="0">
            <a:solidFill>
              <a:srgbClr val="071521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6DA1A8C1-F630-483E-AA11-B9C940B44D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5867400"/>
            <a:ext cx="1055370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F5F1E8"/>
                </a:solidFill>
                <a:latin typeface="PingFang SC"/>
                <a:ea typeface="PingFang SC"/>
                <a:cs typeface="PingFang SC"/>
              </a:defRPr>
            </a:pPr>
            <a:r>
              <a:t>外部依赖：Binance REST 提供 K 线；Gemini/OpenAI 提供大模型分析；本地引擎作为演示回退。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B83255C3-8E99-48EA-A1EB-DB78F227C5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534150"/>
            <a:ext cx="3143250" cy="152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5B707B"/>
                </a:solidFill>
                <a:latin typeface="Avenir Next"/>
                <a:ea typeface="Avenir Next"/>
                <a:cs typeface="Avenir Next"/>
              </a:defRPr>
            </a:pPr>
            <a:r>
              <a:t>QUANT PLATFORM / COURSE DEFENSE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2B63CA25-C5A2-4E35-9682-AB7FD1AF07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6534150"/>
            <a:ext cx="6858000" cy="152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750" b="0">
                <a:solidFill>
                  <a:srgbClr val="5B707B"/>
                </a:solidFill>
                <a:latin typeface="PingFang SC"/>
                <a:ea typeface="PingFang SC"/>
                <a:cs typeface="PingFang SC"/>
              </a:defRPr>
            </a:pPr>
            <a:r>
              <a:t>来源：docs/architecture.md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435275A7-3DA4-4209-8CC4-83D27247F2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534150"/>
            <a:ext cx="304800" cy="152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750" b="1">
                <a:solidFill>
                  <a:srgbClr val="5B707B"/>
                </a:solidFill>
                <a:latin typeface="Avenir Next"/>
                <a:ea typeface="Avenir Next"/>
                <a:cs typeface="Avenir Next"/>
              </a:defRPr>
            </a:pPr>
            <a:r>
              <a:t>05</a:t>
            </a:r>
          </a:p>
        </p:txBody>
      </p:sp>
    </p:spTree>
    <p:extLst>
      <p:ext uri="{BB962C8B-B14F-4D97-AF65-F5344CB8AC3E}">
        <p14:creationId xmlns:p14="http://schemas.microsoft.com/office/powerpoint/2010/main" val="1388083828"/>
      </p:ext>
    </p:extLst>
  </p:cSld>
</p:sld>
</file>

<file path=ppt/slides/slide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slide-background">
            <a:extLst xmlns:a="http://schemas.openxmlformats.org/drawingml/2006/main">
              <a:ext uri="{FF2B5EF4-FFF2-40B4-BE49-F238E27FC236}">
                <a16:creationId xmlns:a16="http://schemas.microsoft.com/office/drawing/2014/main" id="{768B818B-D7FC-43D1-8299-1985B5F7F1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1E8"/>
          </a:solidFill>
          <a:ln xmlns:a="http://schemas.openxmlformats.org/drawingml/2006/main" w="0">
            <a:solidFill>
              <a:srgbClr val="F5F1E8"/>
            </a:solidFill>
            <a:prstDash val="solid"/>
          </a:ln>
        </p:spPr>
      </p:sp>
      <p:sp>
        <p:nvSpPr>
          <p:cNvPr id="2" name="kicker-marker">
            <a:extLst xmlns:a="http://schemas.openxmlformats.org/drawingml/2006/main">
              <a:ext uri="{FF2B5EF4-FFF2-40B4-BE49-F238E27FC236}">
                <a16:creationId xmlns:a16="http://schemas.microsoft.com/office/drawing/2014/main" id="{F761834A-2A69-4C36-B600-AB36F220D7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09575"/>
            <a:ext cx="76200" cy="762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DD4BF"/>
          </a:solidFill>
          <a:ln xmlns:a="http://schemas.openxmlformats.org/drawingml/2006/main" w="0">
            <a:solidFill>
              <a:srgbClr val="2DD4BF"/>
            </a:solidFill>
            <a:prstDash val="solid"/>
          </a:ln>
        </p:spPr>
      </p:sp>
      <p:sp>
        <p:nvSpPr>
          <p:cNvPr id="3" name="kicker-label">
            <a:extLst xmlns:a="http://schemas.openxmlformats.org/drawingml/2006/main">
              <a:ext uri="{FF2B5EF4-FFF2-40B4-BE49-F238E27FC236}">
                <a16:creationId xmlns:a16="http://schemas.microsoft.com/office/drawing/2014/main" id="{05BC4873-3158-479D-90A1-FEBDA412DB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14325"/>
            <a:ext cx="409575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071521"/>
                </a:solidFill>
                <a:latin typeface="Avenir Next"/>
                <a:ea typeface="Avenir Next"/>
                <a:cs typeface="Avenir Next"/>
              </a:defRPr>
            </a:pPr>
            <a:r>
              <a:t>FUNCTIONS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B46A8CC-E866-4DB1-A41E-DFF489731B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838200"/>
            <a:ext cx="8572500" cy="4762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071521"/>
                </a:solidFill>
                <a:latin typeface="PingFang SC"/>
                <a:ea typeface="PingFang SC"/>
                <a:cs typeface="PingFang SC"/>
              </a:defRPr>
            </a:pPr>
            <a:r>
              <a:t>功能模块实现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0028977-BF87-49EA-9EBA-554A0E0240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409700"/>
            <a:ext cx="9906000" cy="323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B707B"/>
                </a:solidFill>
                <a:latin typeface="PingFang SC"/>
                <a:ea typeface="PingFang SC"/>
                <a:cs typeface="PingFang SC"/>
              </a:defRPr>
            </a:pPr>
            <a:r>
              <a:t>平台页面按使用流程组织，支持从登录、行情观察到回测分析的完整演示。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7CC9D85-DDEA-46C3-9355-5F6A04F61E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076450"/>
            <a:ext cx="3295650" cy="120015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E1DE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28A7A27-6B6B-414A-B1E1-C6F7DDA795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286000"/>
            <a:ext cx="361950" cy="3619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4C8DFF"/>
          </a:solidFill>
          <a:ln xmlns:a="http://schemas.openxmlformats.org/drawingml/2006/main" w="0">
            <a:solidFill>
              <a:srgbClr val="4C8DFF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4C8CEBF-BC7B-42AD-9702-FACADF485B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286000"/>
            <a:ext cx="361950" cy="3619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071521"/>
                </a:solidFill>
                <a:latin typeface="Avenir Next"/>
                <a:ea typeface="Avenir Next"/>
                <a:cs typeface="Avenir Next"/>
              </a:defRPr>
            </a:pPr>
            <a:r>
              <a:t>01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3C52190-570C-4E12-85C7-D93DEDACA8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6350" y="2266950"/>
            <a:ext cx="219075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071521"/>
                </a:solidFill>
                <a:latin typeface="PingFang SC"/>
                <a:ea typeface="PingFang SC"/>
                <a:cs typeface="PingFang SC"/>
              </a:defRPr>
            </a:pPr>
            <a:r>
              <a:t>用户与账户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EC4DAFD-3428-440A-B633-DB62569B52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6350" y="2609850"/>
            <a:ext cx="2190750" cy="4381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5B707B"/>
                </a:solidFill>
                <a:latin typeface="PingFang SC"/>
                <a:ea typeface="PingFang SC"/>
                <a:cs typeface="PingFang SC"/>
              </a:defRPr>
            </a:pPr>
            <a:r>
              <a:t>注册、登录、JWT 鉴权、用户数据隔离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AC87285-D7AD-44E1-A961-62E8BD610B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48175" y="2076450"/>
            <a:ext cx="3295650" cy="120015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E1DE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3663F85-0E38-47A0-9B79-5C407F0D2A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57725" y="2286000"/>
            <a:ext cx="361950" cy="3619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DD4BF"/>
          </a:solidFill>
          <a:ln xmlns:a="http://schemas.openxmlformats.org/drawingml/2006/main" w="0">
            <a:solidFill>
              <a:srgbClr val="2DD4BF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865F1C5-FA51-4883-9863-9D8DD50DF8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57725" y="2286000"/>
            <a:ext cx="361950" cy="3619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071521"/>
                </a:solidFill>
                <a:latin typeface="Avenir Next"/>
                <a:ea typeface="Avenir Next"/>
                <a:cs typeface="Avenir Next"/>
              </a:defRPr>
            </a:pPr>
            <a:r>
              <a:t>02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418D184-E011-46BD-AC63-9D5B11D39A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72075" y="2266950"/>
            <a:ext cx="219075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071521"/>
                </a:solidFill>
                <a:latin typeface="PingFang SC"/>
                <a:ea typeface="PingFang SC"/>
                <a:cs typeface="PingFang SC"/>
              </a:defRPr>
            </a:pPr>
            <a:r>
              <a:t>实时行情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F0D09D6-50BA-4B10-8152-3F25CE4E90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72075" y="2609850"/>
            <a:ext cx="2190750" cy="4381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91270"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5B707B"/>
                </a:solidFill>
                <a:latin typeface="PingFang SC"/>
                <a:ea typeface="PingFang SC"/>
                <a:cs typeface="PingFang SC"/>
              </a:defRPr>
            </a:pPr>
            <a:r>
              <a:t>K 线周期切换、成交量、均线、数据健康状态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7B40161-580D-49AF-978C-5D44A4B4B6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3900" y="2076450"/>
            <a:ext cx="3295650" cy="120015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E1DE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C51B8B6-C745-4340-8D19-016C5F8B12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53450" y="2286000"/>
            <a:ext cx="361950" cy="3619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2B84B"/>
          </a:solidFill>
          <a:ln xmlns:a="http://schemas.openxmlformats.org/drawingml/2006/main" w="0">
            <a:solidFill>
              <a:srgbClr val="F2B84B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3D87D83-CADE-4CDA-9A3C-A2AB025405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53450" y="2286000"/>
            <a:ext cx="361950" cy="3619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071521"/>
                </a:solidFill>
                <a:latin typeface="Avenir Next"/>
                <a:ea typeface="Avenir Next"/>
                <a:cs typeface="Avenir Next"/>
              </a:defRPr>
            </a:pPr>
            <a:r>
              <a:t>03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56F477ED-81C9-4F85-906E-84A17C5E34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2266950"/>
            <a:ext cx="219075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071521"/>
                </a:solidFill>
                <a:latin typeface="PingFang SC"/>
                <a:ea typeface="PingFang SC"/>
                <a:cs typeface="PingFang SC"/>
              </a:defRPr>
            </a:pPr>
            <a:r>
              <a:t>策略管理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FD32384B-767C-4FFC-8F9C-7EFCA8338E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2609850"/>
            <a:ext cx="2190750" cy="4381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5B707B"/>
                </a:solidFill>
                <a:latin typeface="PingFang SC"/>
                <a:ea typeface="PingFang SC"/>
                <a:cs typeface="PingFang SC"/>
              </a:defRPr>
            </a:pPr>
            <a:r>
              <a:t>内置策略、自定义策略、参数配置和保存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CC9070AE-7D3F-4CDE-AD3B-AF02F7FC00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752850"/>
            <a:ext cx="3295650" cy="120015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E1DE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6E1630D7-8683-4666-B135-96282591FF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962400"/>
            <a:ext cx="361950" cy="3619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D75A5A"/>
          </a:solidFill>
          <a:ln xmlns:a="http://schemas.openxmlformats.org/drawingml/2006/main" w="0">
            <a:solidFill>
              <a:srgbClr val="D75A5A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487F9BD8-B007-450D-A589-A6CC6D88BE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962400"/>
            <a:ext cx="361950" cy="3619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071521"/>
                </a:solidFill>
                <a:latin typeface="Avenir Next"/>
                <a:ea typeface="Avenir Next"/>
                <a:cs typeface="Avenir Next"/>
              </a:defRPr>
            </a:pPr>
            <a:r>
              <a:t>04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0F013A59-4AB2-49D9-8D9A-0F4C510F1E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6350" y="3943350"/>
            <a:ext cx="219075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071521"/>
                </a:solidFill>
                <a:latin typeface="PingFang SC"/>
                <a:ea typeface="PingFang SC"/>
                <a:cs typeface="PingFang SC"/>
              </a:defRPr>
            </a:pPr>
            <a:r>
              <a:t>回测任务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32D63FA0-696F-45C5-AD80-E398A5DB6E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6350" y="4286250"/>
            <a:ext cx="2190750" cy="4381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5B707B"/>
                </a:solidFill>
                <a:latin typeface="PingFang SC"/>
                <a:ea typeface="PingFang SC"/>
                <a:cs typeface="PingFang SC"/>
              </a:defRPr>
            </a:pPr>
            <a:r>
              <a:t>异步提交、状态轮询、取消、失败重试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3C997507-05CC-439F-BA20-75E0A3B917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48175" y="3752850"/>
            <a:ext cx="3295650" cy="120015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E1DE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2D7E2831-2968-4A4A-92D2-7092A30092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57725" y="3962400"/>
            <a:ext cx="361950" cy="3619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DD4BF"/>
          </a:solidFill>
          <a:ln xmlns:a="http://schemas.openxmlformats.org/drawingml/2006/main" w="0">
            <a:solidFill>
              <a:srgbClr val="2DD4BF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45E90350-FC0C-4E76-A373-D1BA8C5D69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57725" y="3962400"/>
            <a:ext cx="361950" cy="3619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071521"/>
                </a:solidFill>
                <a:latin typeface="Avenir Next"/>
                <a:ea typeface="Avenir Next"/>
                <a:cs typeface="Avenir Next"/>
              </a:defRPr>
            </a:pPr>
            <a:r>
              <a:t>05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D5700A51-04E2-4F54-A05A-52516739E7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72075" y="3943350"/>
            <a:ext cx="219075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071521"/>
                </a:solidFill>
                <a:latin typeface="PingFang SC"/>
                <a:ea typeface="PingFang SC"/>
                <a:cs typeface="PingFang SC"/>
              </a:defRPr>
            </a:pPr>
            <a:r>
              <a:t>结果展示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1FFCFAFC-13EE-4F61-A324-19DC26EB21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72075" y="4286250"/>
            <a:ext cx="2190750" cy="4381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91270"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5B707B"/>
                </a:solidFill>
                <a:latin typeface="PingFang SC"/>
                <a:ea typeface="PingFang SC"/>
                <a:cs typeface="PingFang SC"/>
              </a:defRPr>
            </a:pPr>
            <a:r>
              <a:t>K 线成交点、权益曲线、交易明细、风险指标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BA224505-F5A6-4354-AE87-CFE061547E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3900" y="3752850"/>
            <a:ext cx="3295650" cy="120015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E1DE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DF9DAC36-11DC-4C26-B124-97E16F532E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53450" y="3962400"/>
            <a:ext cx="361950" cy="3619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4C8DFF"/>
          </a:solidFill>
          <a:ln xmlns:a="http://schemas.openxmlformats.org/drawingml/2006/main" w="0">
            <a:solidFill>
              <a:srgbClr val="4C8DFF"/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026B2B8C-0E04-4701-929B-F66D4B7810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53450" y="3962400"/>
            <a:ext cx="361950" cy="3619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071521"/>
                </a:solidFill>
                <a:latin typeface="Avenir Next"/>
                <a:ea typeface="Avenir Next"/>
                <a:cs typeface="Avenir Next"/>
              </a:defRPr>
            </a:pPr>
            <a:r>
              <a:t>06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8D0DB42C-E133-4E91-83D3-614C8BD7C5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3943350"/>
            <a:ext cx="219075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071521"/>
                </a:solidFill>
                <a:latin typeface="PingFang SC"/>
                <a:ea typeface="PingFang SC"/>
                <a:cs typeface="PingFang SC"/>
              </a:defRPr>
            </a:pPr>
            <a:r>
              <a:t>AI 分析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DE014CDE-6BBA-4F48-AC0A-DEBEB0B701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4286250"/>
            <a:ext cx="2190750" cy="4381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5B707B"/>
                </a:solidFill>
                <a:latin typeface="PingFang SC"/>
                <a:ea typeface="PingFang SC"/>
                <a:cs typeface="PingFang SC"/>
              </a:defRPr>
            </a:pPr>
            <a:r>
              <a:t>模型切换、评分、风险提示、建议参数持久化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9886CE59-839A-4CC3-B47C-F04CEFF8DC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5562600"/>
            <a:ext cx="11087100" cy="419100"/>
          </a:xfrm>
          <a:prstGeom xmlns:a="http://schemas.openxmlformats.org/drawingml/2006/main" prst="roundRect">
            <a:avLst>
              <a:gd name="adj" fmla="val 22727"/>
            </a:avLst>
          </a:prstGeom>
          <a:solidFill xmlns:a="http://schemas.openxmlformats.org/drawingml/2006/main">
            <a:srgbClr val="071521"/>
          </a:solidFill>
          <a:ln xmlns:a="http://schemas.openxmlformats.org/drawingml/2006/main" w="0">
            <a:solidFill>
              <a:srgbClr val="071521"/>
            </a:solidFill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822C669F-39C5-42FC-8F4F-C04BB45D78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5667375"/>
            <a:ext cx="1055370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5F1E8"/>
                </a:solidFill>
                <a:latin typeface="PingFang SC"/>
                <a:ea typeface="PingFang SC"/>
                <a:cs typeface="PingFang SC"/>
              </a:defRPr>
            </a:pPr>
            <a:r>
              <a:t>演示入口：登录页 → 市场观察 → 策略配置 → 回测任务 → 结果页 → AI 分析。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05CBD4EA-167D-42FC-B51D-07A40FA661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534150"/>
            <a:ext cx="3143250" cy="152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5B707B"/>
                </a:solidFill>
                <a:latin typeface="Avenir Next"/>
                <a:ea typeface="Avenir Next"/>
                <a:cs typeface="Avenir Next"/>
              </a:defRPr>
            </a:pPr>
            <a:r>
              <a:t>QUANT PLATFORM / COURSE DEFENSE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B7C6F30B-1288-42DA-BE7C-8BCE71BD64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6534150"/>
            <a:ext cx="6858000" cy="152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750" b="0">
                <a:solidFill>
                  <a:srgbClr val="5B707B"/>
                </a:solidFill>
                <a:latin typeface="PingFang SC"/>
                <a:ea typeface="PingFang SC"/>
                <a:cs typeface="PingFang SC"/>
              </a:defRPr>
            </a:pPr>
            <a:r>
              <a:t>来源：frontend/src/components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968789E5-FEF8-422E-8D7C-4600EF64CC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534150"/>
            <a:ext cx="304800" cy="152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750" b="1">
                <a:solidFill>
                  <a:srgbClr val="5B707B"/>
                </a:solidFill>
                <a:latin typeface="Avenir Next"/>
                <a:ea typeface="Avenir Next"/>
                <a:cs typeface="Avenir Next"/>
              </a:defRPr>
            </a:pPr>
            <a:r>
              <a:t>06</a:t>
            </a:r>
          </a:p>
        </p:txBody>
      </p:sp>
    </p:spTree>
    <p:extLst>
      <p:ext uri="{BB962C8B-B14F-4D97-AF65-F5344CB8AC3E}">
        <p14:creationId xmlns:p14="http://schemas.microsoft.com/office/powerpoint/2010/main" val="1624506467"/>
      </p:ext>
    </p:extLst>
  </p:cSld>
</p:sld>
</file>

<file path=ppt/slides/slide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slide-background">
            <a:extLst xmlns:a="http://schemas.openxmlformats.org/drawingml/2006/main">
              <a:ext uri="{FF2B5EF4-FFF2-40B4-BE49-F238E27FC236}">
                <a16:creationId xmlns:a16="http://schemas.microsoft.com/office/drawing/2014/main" id="{2D2FC61A-1F33-4C94-8632-B288C5F444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1E8"/>
          </a:solidFill>
          <a:ln xmlns:a="http://schemas.openxmlformats.org/drawingml/2006/main" w="0">
            <a:solidFill>
              <a:srgbClr val="F5F1E8"/>
            </a:solidFill>
            <a:prstDash val="solid"/>
          </a:ln>
        </p:spPr>
      </p:sp>
      <p:sp>
        <p:nvSpPr>
          <p:cNvPr id="2" name="kicker-marker">
            <a:extLst xmlns:a="http://schemas.openxmlformats.org/drawingml/2006/main">
              <a:ext uri="{FF2B5EF4-FFF2-40B4-BE49-F238E27FC236}">
                <a16:creationId xmlns:a16="http://schemas.microsoft.com/office/drawing/2014/main" id="{F02B55B0-160F-4B09-93C5-E19A136236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09575"/>
            <a:ext cx="76200" cy="762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DD4BF"/>
          </a:solidFill>
          <a:ln xmlns:a="http://schemas.openxmlformats.org/drawingml/2006/main" w="0">
            <a:solidFill>
              <a:srgbClr val="2DD4BF"/>
            </a:solidFill>
            <a:prstDash val="solid"/>
          </a:ln>
        </p:spPr>
      </p:sp>
      <p:sp>
        <p:nvSpPr>
          <p:cNvPr id="3" name="kicker-label">
            <a:extLst xmlns:a="http://schemas.openxmlformats.org/drawingml/2006/main">
              <a:ext uri="{FF2B5EF4-FFF2-40B4-BE49-F238E27FC236}">
                <a16:creationId xmlns:a16="http://schemas.microsoft.com/office/drawing/2014/main" id="{1D0E220A-0529-410C-9732-533433B5A3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14325"/>
            <a:ext cx="409575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071521"/>
                </a:solidFill>
                <a:latin typeface="Avenir Next"/>
                <a:ea typeface="Avenir Next"/>
                <a:cs typeface="Avenir Next"/>
              </a:defRPr>
            </a:pPr>
            <a:r>
              <a:t>DATA PIPELINE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7296DD8-39F6-4616-B898-6583EC2B4A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838200"/>
            <a:ext cx="8572500" cy="4762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071521"/>
                </a:solidFill>
                <a:latin typeface="PingFang SC"/>
                <a:ea typeface="PingFang SC"/>
                <a:cs typeface="PingFang SC"/>
              </a:defRPr>
            </a:pPr>
            <a:r>
              <a:t>实时行情数据链路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9D6103B-0E4D-48EE-971B-287A8249DA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409700"/>
            <a:ext cx="9906000" cy="323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B707B"/>
                </a:solidFill>
                <a:latin typeface="PingFang SC"/>
                <a:ea typeface="PingFang SC"/>
                <a:cs typeface="PingFang SC"/>
              </a:defRPr>
            </a:pPr>
            <a:r>
              <a:t>行情模块负责从外部数据源同步 K 线，并向图表展示和回测服务提供统一的数据读取入口。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566BF59-021B-4054-828A-8DA4F0EB32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133600"/>
            <a:ext cx="1790700" cy="1752600"/>
          </a:xfrm>
          <a:prstGeom xmlns:a="http://schemas.openxmlformats.org/drawingml/2006/main" prst="roundRect">
            <a:avLst>
              <a:gd name="adj" fmla="val 760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E1DE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924A529-1760-4B19-B3E9-80E07E3765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324100"/>
            <a:ext cx="43815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4C8DFF"/>
                </a:solidFill>
                <a:latin typeface="Avenir Next"/>
                <a:ea typeface="Avenir Next"/>
                <a:cs typeface="Avenir Next"/>
              </a:defRPr>
            </a:pPr>
            <a:r>
              <a:t>01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C463DE7-0BDD-4FD3-9E97-C122DBDD5F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743200"/>
            <a:ext cx="1447800" cy="304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071521"/>
                </a:solidFill>
                <a:latin typeface="PingFang SC"/>
                <a:ea typeface="PingFang SC"/>
                <a:cs typeface="PingFang SC"/>
              </a:defRPr>
            </a:pPr>
            <a:r>
              <a:t>请求数据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A527ED9-8AAE-42D3-B0E9-92DDC31CEE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181350"/>
            <a:ext cx="1447800" cy="5143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5B707B"/>
                </a:solidFill>
                <a:latin typeface="PingFang SC"/>
                <a:ea typeface="PingFang SC"/>
                <a:cs typeface="PingFang SC"/>
              </a:defRPr>
            </a:pPr>
            <a:r>
              <a:t>按 symbol、timeframe、range 计算请求窗口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4884B33-DF87-44C7-B9AE-E2DFA2EE5B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62200" y="2743200"/>
            <a:ext cx="381000" cy="381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5B707B"/>
                </a:solidFill>
                <a:latin typeface="PingFang SC"/>
                <a:ea typeface="PingFang SC"/>
                <a:cs typeface="PingFang SC"/>
              </a:defRPr>
            </a:pPr>
            <a:r>
              <a:t>→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259CDE4-1B5A-405B-876E-47C2F348EE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28900" y="2133600"/>
            <a:ext cx="1790700" cy="1752600"/>
          </a:xfrm>
          <a:prstGeom xmlns:a="http://schemas.openxmlformats.org/drawingml/2006/main" prst="roundRect">
            <a:avLst>
              <a:gd name="adj" fmla="val 760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E1DE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10AABB7-CF00-4641-A06D-BB4076BFC0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00350" y="2324100"/>
            <a:ext cx="43815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2DD4BF"/>
                </a:solidFill>
                <a:latin typeface="Avenir Next"/>
                <a:ea typeface="Avenir Next"/>
                <a:cs typeface="Avenir Next"/>
              </a:defRPr>
            </a:pPr>
            <a:r>
              <a:t>02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211AB28-4E42-4241-A2D5-F51BF55949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00350" y="2743200"/>
            <a:ext cx="1447800" cy="304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071521"/>
                </a:solidFill>
                <a:latin typeface="PingFang SC"/>
                <a:ea typeface="PingFang SC"/>
                <a:cs typeface="PingFang SC"/>
              </a:defRPr>
            </a:pPr>
            <a:r>
              <a:t>分页拉取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3926F94-3551-466F-AB2A-E8886EBAC1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00350" y="3181350"/>
            <a:ext cx="1447800" cy="5143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5B707B"/>
                </a:solidFill>
                <a:latin typeface="PingFang SC"/>
                <a:ea typeface="PingFang SC"/>
                <a:cs typeface="PingFang SC"/>
              </a:defRPr>
            </a:pPr>
            <a:r>
              <a:t>Binance REST 单批最多 1000 根，循环补齐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02C46B3-196E-4697-A3BD-6BF7A9BB24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38650" y="2743200"/>
            <a:ext cx="381000" cy="381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5B707B"/>
                </a:solidFill>
                <a:latin typeface="PingFang SC"/>
                <a:ea typeface="PingFang SC"/>
                <a:cs typeface="PingFang SC"/>
              </a:defRPr>
            </a:pPr>
            <a:r>
              <a:t>→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4162820-E052-42F1-AC12-54FF968FB4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5350" y="2133600"/>
            <a:ext cx="1790700" cy="1752600"/>
          </a:xfrm>
          <a:prstGeom xmlns:a="http://schemas.openxmlformats.org/drawingml/2006/main" prst="roundRect">
            <a:avLst>
              <a:gd name="adj" fmla="val 760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E1DE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BCB2AB2-EB23-496D-A397-4C9EFCADAF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76800" y="2324100"/>
            <a:ext cx="43815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F2B84B"/>
                </a:solidFill>
                <a:latin typeface="Avenir Next"/>
                <a:ea typeface="Avenir Next"/>
                <a:cs typeface="Avenir Next"/>
              </a:defRPr>
            </a:pPr>
            <a:r>
              <a:t>03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25CA1AD-DC11-40AF-B4B9-2F287628E9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76800" y="2743200"/>
            <a:ext cx="1447800" cy="304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071521"/>
                </a:solidFill>
                <a:latin typeface="PingFang SC"/>
                <a:ea typeface="PingFang SC"/>
                <a:cs typeface="PingFang SC"/>
              </a:defRPr>
            </a:pPr>
            <a:r>
              <a:t>字段标准化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0D1966C-CD27-4B11-A6DA-B6AB32BD28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76800" y="3181350"/>
            <a:ext cx="1447800" cy="5143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5B707B"/>
                </a:solidFill>
                <a:latin typeface="PingFang SC"/>
                <a:ea typeface="PingFang SC"/>
                <a:cs typeface="PingFang SC"/>
              </a:defRPr>
            </a:pPr>
            <a:r>
              <a:t>open_time、close_time、OHLCV 统一入库格式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48952A95-7F6A-4CE3-8FC1-FFCC42B430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2743200"/>
            <a:ext cx="381000" cy="381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5B707B"/>
                </a:solidFill>
                <a:latin typeface="PingFang SC"/>
                <a:ea typeface="PingFang SC"/>
                <a:cs typeface="PingFang SC"/>
              </a:defRPr>
            </a:pPr>
            <a:r>
              <a:t>→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4962D812-621A-4E57-8276-AD6D249031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81800" y="2133600"/>
            <a:ext cx="1790700" cy="1752600"/>
          </a:xfrm>
          <a:prstGeom xmlns:a="http://schemas.openxmlformats.org/drawingml/2006/main" prst="roundRect">
            <a:avLst>
              <a:gd name="adj" fmla="val 760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E1DE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E9D46D3D-9A85-461A-B175-439A5238AC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2324100"/>
            <a:ext cx="43815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D75A5A"/>
                </a:solidFill>
                <a:latin typeface="Avenir Next"/>
                <a:ea typeface="Avenir Next"/>
                <a:cs typeface="Avenir Next"/>
              </a:defRPr>
            </a:pPr>
            <a:r>
              <a:t>04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054A5010-E001-424D-97C6-FE6374FC8F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2743200"/>
            <a:ext cx="1447800" cy="304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071521"/>
                </a:solidFill>
                <a:latin typeface="PingFang SC"/>
                <a:ea typeface="PingFang SC"/>
                <a:cs typeface="PingFang SC"/>
              </a:defRPr>
            </a:pPr>
            <a:r>
              <a:t>Upsert 入库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2B7D668C-016F-40D2-9B2E-B236E8E602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3181350"/>
            <a:ext cx="1447800" cy="5143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5B707B"/>
                </a:solidFill>
                <a:latin typeface="PingFang SC"/>
                <a:ea typeface="PingFang SC"/>
                <a:cs typeface="PingFang SC"/>
              </a:defRPr>
            </a:pPr>
            <a:r>
              <a:t>按 symbol + timeframe + open_time 去重更新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FD1AB84B-ED53-4743-AF5B-04760C39CD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91550" y="2743200"/>
            <a:ext cx="381000" cy="381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5B707B"/>
                </a:solidFill>
                <a:latin typeface="PingFang SC"/>
                <a:ea typeface="PingFang SC"/>
                <a:cs typeface="PingFang SC"/>
              </a:defRPr>
            </a:pPr>
            <a:r>
              <a:t>→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58305420-023A-4C1B-9CE0-C47EDFAEB0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2133600"/>
            <a:ext cx="2781300" cy="1752600"/>
          </a:xfrm>
          <a:prstGeom xmlns:a="http://schemas.openxmlformats.org/drawingml/2006/main" prst="roundRect">
            <a:avLst>
              <a:gd name="adj" fmla="val 760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E1DE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7043FB3B-3FA1-4142-AE92-719400FCCA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29700" y="2324100"/>
            <a:ext cx="43815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2DD4BF"/>
                </a:solidFill>
                <a:latin typeface="Avenir Next"/>
                <a:ea typeface="Avenir Next"/>
                <a:cs typeface="Avenir Next"/>
              </a:defRPr>
            </a:pPr>
            <a:r>
              <a:t>05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F595109C-A19E-47B9-883D-9B935A51E9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29700" y="2743200"/>
            <a:ext cx="2438400" cy="304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071521"/>
                </a:solidFill>
                <a:latin typeface="PingFang SC"/>
                <a:ea typeface="PingFang SC"/>
                <a:cs typeface="PingFang SC"/>
              </a:defRPr>
            </a:pPr>
            <a:r>
              <a:t>健康检查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020A8240-19AD-447A-A50E-136CEA81E1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29700" y="3181350"/>
            <a:ext cx="2438400" cy="5143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5B707B"/>
                </a:solidFill>
                <a:latin typeface="PingFang SC"/>
                <a:ea typeface="PingFang SC"/>
                <a:cs typeface="PingFang SC"/>
              </a:defRPr>
            </a:pPr>
            <a:r>
              <a:t>计算 age、gap、missing bars，返回 fresh/watch/stale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71CA12C3-F541-4542-AEDE-5F2E98E060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457700"/>
            <a:ext cx="11087100" cy="106680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071521"/>
          </a:solidFill>
          <a:ln xmlns:a="http://schemas.openxmlformats.org/drawingml/2006/main" w="0">
            <a:solidFill>
              <a:srgbClr val="071521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C8E54259-6A27-4F78-99AF-9F12E36A41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686300"/>
            <a:ext cx="171450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F2B84B"/>
                </a:solidFill>
                <a:latin typeface="PingFang SC"/>
                <a:ea typeface="PingFang SC"/>
                <a:cs typeface="PingFang SC"/>
              </a:defRPr>
            </a:pPr>
            <a:r>
              <a:t>演示库数据规模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A1ADB080-B341-428A-BB3C-377F57D28A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4686300"/>
            <a:ext cx="20955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5F1E8"/>
                </a:solidFill>
                <a:latin typeface="Avenir Next"/>
                <a:ea typeface="Avenir Next"/>
                <a:cs typeface="Avenir Next"/>
              </a:defRPr>
            </a:pPr>
            <a:r>
              <a:t>BTCUSDT 1m：1,823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52AFD76F-FB3A-4F45-B287-D0E1986920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0" y="4686300"/>
            <a:ext cx="20955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5F1E8"/>
                </a:solidFill>
                <a:latin typeface="Avenir Next"/>
                <a:ea typeface="Avenir Next"/>
                <a:cs typeface="Avenir Next"/>
              </a:defRPr>
            </a:pPr>
            <a:r>
              <a:t>BTCUSDT 1h：1,435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FC3CBD9F-0191-478E-A79D-EF648BFCC4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4686300"/>
            <a:ext cx="19050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5F1E8"/>
                </a:solidFill>
                <a:latin typeface="Avenir Next"/>
                <a:ea typeface="Avenir Next"/>
                <a:cs typeface="Avenir Next"/>
              </a:defRPr>
            </a:pPr>
            <a:r>
              <a:t>BTCUSDT 1d：734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8B57E634-77B0-4A90-B201-881D1E02B9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5105400"/>
            <a:ext cx="1009650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B7C6CA"/>
                </a:solidFill>
                <a:latin typeface="PingFang SC"/>
                <a:ea typeface="PingFang SC"/>
                <a:cs typeface="PingFang SC"/>
              </a:defRPr>
            </a:pPr>
            <a:r>
              <a:t>用途：MarketWatchView 读取展示；BacktestService 在覆盖区间完整时优先使用数据库 K 线。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A4748D37-5DF1-4493-A314-329AAC22C4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534150"/>
            <a:ext cx="3143250" cy="152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5B707B"/>
                </a:solidFill>
                <a:latin typeface="Avenir Next"/>
                <a:ea typeface="Avenir Next"/>
                <a:cs typeface="Avenir Next"/>
              </a:defRPr>
            </a:pPr>
            <a:r>
              <a:t>QUANT PLATFORM / COURSE DEFENSE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63547E7D-4F8B-4B8B-A502-A1C992A088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6534150"/>
            <a:ext cx="6858000" cy="152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750" b="0">
                <a:solidFill>
                  <a:srgbClr val="5B707B"/>
                </a:solidFill>
                <a:latin typeface="PingFang SC"/>
                <a:ea typeface="PingFang SC"/>
                <a:cs typeface="PingFang SC"/>
              </a:defRPr>
            </a:pPr>
            <a:r>
              <a:t>来源：backend/app/services/market_data_service.py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DC5F1624-2D63-483F-9369-3F42993B8A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534150"/>
            <a:ext cx="304800" cy="152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750" b="1">
                <a:solidFill>
                  <a:srgbClr val="5B707B"/>
                </a:solidFill>
                <a:latin typeface="Avenir Next"/>
                <a:ea typeface="Avenir Next"/>
                <a:cs typeface="Avenir Next"/>
              </a:defRPr>
            </a:pPr>
            <a:r>
              <a:t>07</a:t>
            </a:r>
          </a:p>
        </p:txBody>
      </p:sp>
    </p:spTree>
    <p:extLst>
      <p:ext uri="{BB962C8B-B14F-4D97-AF65-F5344CB8AC3E}">
        <p14:creationId xmlns:p14="http://schemas.microsoft.com/office/powerpoint/2010/main" val="2102701725"/>
      </p:ext>
    </p:extLst>
  </p:cSld>
</p:sld>
</file>

<file path=ppt/slides/slide8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slide-background">
            <a:extLst xmlns:a="http://schemas.openxmlformats.org/drawingml/2006/main">
              <a:ext uri="{FF2B5EF4-FFF2-40B4-BE49-F238E27FC236}">
                <a16:creationId xmlns:a16="http://schemas.microsoft.com/office/drawing/2014/main" id="{9E28A3F9-23DE-4D16-BFBD-28CFAC1EF4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1E8"/>
          </a:solidFill>
          <a:ln xmlns:a="http://schemas.openxmlformats.org/drawingml/2006/main" w="0">
            <a:solidFill>
              <a:srgbClr val="F5F1E8"/>
            </a:solidFill>
            <a:prstDash val="solid"/>
          </a:ln>
        </p:spPr>
      </p:sp>
      <p:sp>
        <p:nvSpPr>
          <p:cNvPr id="2" name="kicker-marker">
            <a:extLst xmlns:a="http://schemas.openxmlformats.org/drawingml/2006/main">
              <a:ext uri="{FF2B5EF4-FFF2-40B4-BE49-F238E27FC236}">
                <a16:creationId xmlns:a16="http://schemas.microsoft.com/office/drawing/2014/main" id="{93CD6618-6B92-49EC-B1BF-15D80113C6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09575"/>
            <a:ext cx="76200" cy="762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DD4BF"/>
          </a:solidFill>
          <a:ln xmlns:a="http://schemas.openxmlformats.org/drawingml/2006/main" w="0">
            <a:solidFill>
              <a:srgbClr val="2DD4BF"/>
            </a:solidFill>
            <a:prstDash val="solid"/>
          </a:ln>
        </p:spPr>
      </p:sp>
      <p:sp>
        <p:nvSpPr>
          <p:cNvPr id="3" name="kicker-label">
            <a:extLst xmlns:a="http://schemas.openxmlformats.org/drawingml/2006/main">
              <a:ext uri="{FF2B5EF4-FFF2-40B4-BE49-F238E27FC236}">
                <a16:creationId xmlns:a16="http://schemas.microsoft.com/office/drawing/2014/main" id="{179C6A28-5B53-41C2-AA14-4C9F6C0E2B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14325"/>
            <a:ext cx="409575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071521"/>
                </a:solidFill>
                <a:latin typeface="Avenir Next"/>
                <a:ea typeface="Avenir Next"/>
                <a:cs typeface="Avenir Next"/>
              </a:defRPr>
            </a:pPr>
            <a:r>
              <a:t>ASYNC BACKTEST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9F96C0D-D887-42E8-9746-EA2B256861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838200"/>
            <a:ext cx="8572500" cy="4762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071521"/>
                </a:solidFill>
                <a:latin typeface="PingFang SC"/>
                <a:ea typeface="PingFang SC"/>
                <a:cs typeface="PingFang SC"/>
              </a:defRPr>
            </a:pPr>
            <a:r>
              <a:t>异步回测任务链路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49B753D-153C-4B6A-96B3-91CDCEF75A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409700"/>
            <a:ext cx="9906000" cy="323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B707B"/>
                </a:solidFill>
                <a:latin typeface="PingFang SC"/>
                <a:ea typeface="PingFang SC"/>
                <a:cs typeface="PingFang SC"/>
              </a:defRPr>
            </a:pPr>
            <a:r>
              <a:t>回测任务通过后台线程执行，前端只负责提交参数、轮询状态和展示结果，避免长计算阻塞接口响应。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A6D2FE1-0BC1-4291-8589-7435440E64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228850"/>
            <a:ext cx="2000250" cy="80010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4C8DFF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07DA994-D05D-4181-AB7E-A9667FE7B7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381250"/>
            <a:ext cx="169545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071521"/>
                </a:solidFill>
                <a:latin typeface="PingFang SC"/>
                <a:ea typeface="PingFang SC"/>
                <a:cs typeface="PingFang SC"/>
              </a:defRPr>
            </a:pPr>
            <a:r>
              <a:t>提交请求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4303C91-583E-4AE9-B979-637923DD17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686050"/>
            <a:ext cx="169545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5B707B"/>
                </a:solidFill>
                <a:latin typeface="PingFang SC"/>
                <a:ea typeface="PingFang SC"/>
                <a:cs typeface="PingFang SC"/>
              </a:defRPr>
            </a:pPr>
            <a:r>
              <a:t>POST /api/backtests/jobs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45FCE99-C2BE-4EA4-98CE-655E021CE0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71750" y="2438400"/>
            <a:ext cx="381000" cy="381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5B707B"/>
                </a:solidFill>
                <a:latin typeface="PingFang SC"/>
                <a:ea typeface="PingFang SC"/>
                <a:cs typeface="PingFang SC"/>
              </a:defRPr>
            </a:pPr>
            <a:r>
              <a:t>→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DCA5F4C-7C87-4CDC-9277-F8D2141E9F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0" y="2228850"/>
            <a:ext cx="2000250" cy="80010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2DD4BF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481BC25-A015-4CA7-8E48-59314C943B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05150" y="2381250"/>
            <a:ext cx="169545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071521"/>
                </a:solidFill>
                <a:latin typeface="PingFang SC"/>
                <a:ea typeface="PingFang SC"/>
                <a:cs typeface="PingFang SC"/>
              </a:defRPr>
            </a:pPr>
            <a:r>
              <a:t>创建 Job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0D86445-DD2A-4305-8A54-AC624F19EF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05150" y="2686050"/>
            <a:ext cx="169545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5B707B"/>
                </a:solidFill>
                <a:latin typeface="PingFang SC"/>
                <a:ea typeface="PingFang SC"/>
                <a:cs typeface="PingFang SC"/>
              </a:defRPr>
            </a:pPr>
            <a:r>
              <a:t>写入 backtest_jobs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A0CBB33-2EDA-4200-BF4B-216AD2B379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72050" y="2438400"/>
            <a:ext cx="381000" cy="381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5B707B"/>
                </a:solidFill>
                <a:latin typeface="PingFang SC"/>
                <a:ea typeface="PingFang SC"/>
                <a:cs typeface="PingFang SC"/>
              </a:defRPr>
            </a:pPr>
            <a:r>
              <a:t>→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B1890E2-531A-4487-BAD8-52E832AE82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53050" y="2228850"/>
            <a:ext cx="2000250" cy="80010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F2B84B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0760053-05F2-45CC-AF49-D95E327E25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05450" y="2381250"/>
            <a:ext cx="169545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071521"/>
                </a:solidFill>
                <a:latin typeface="PingFang SC"/>
                <a:ea typeface="PingFang SC"/>
                <a:cs typeface="PingFang SC"/>
              </a:defRPr>
            </a:pPr>
            <a:r>
              <a:t>后台执行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B1EC03C-D4CA-4D27-B806-5FCE1FACB7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05450" y="2686050"/>
            <a:ext cx="169545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5B707B"/>
                </a:solidFill>
                <a:latin typeface="PingFang SC"/>
                <a:ea typeface="PingFang SC"/>
                <a:cs typeface="PingFang SC"/>
              </a:defRPr>
            </a:pPr>
            <a:r>
              <a:t>ThreadPoolExecutor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D47FB24-1973-4075-9E22-BD5BCF4280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72350" y="2438400"/>
            <a:ext cx="381000" cy="381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5B707B"/>
                </a:solidFill>
                <a:latin typeface="PingFang SC"/>
                <a:ea typeface="PingFang SC"/>
                <a:cs typeface="PingFang SC"/>
              </a:defRPr>
            </a:pPr>
            <a:r>
              <a:t>→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5F9BBBC-F27E-42A0-9120-94059E72CF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53350" y="2228850"/>
            <a:ext cx="2000250" cy="80010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D75A5A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6E752B0C-58E0-420D-B35E-99687F0A91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2381250"/>
            <a:ext cx="169545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071521"/>
                </a:solidFill>
                <a:latin typeface="PingFang SC"/>
                <a:ea typeface="PingFang SC"/>
                <a:cs typeface="PingFang SC"/>
              </a:defRPr>
            </a:pPr>
            <a:r>
              <a:t>运行回测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87C3198A-7ECC-4C28-AF3A-B22489B80B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2686050"/>
            <a:ext cx="169545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5B707B"/>
                </a:solidFill>
                <a:latin typeface="PingFang SC"/>
                <a:ea typeface="PingFang SC"/>
                <a:cs typeface="PingFang SC"/>
              </a:defRPr>
            </a:pPr>
            <a:r>
              <a:t>run_backtest()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81378576-9640-41CB-B41E-65329C082F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72650" y="2438400"/>
            <a:ext cx="381000" cy="381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5B707B"/>
                </a:solidFill>
                <a:latin typeface="PingFang SC"/>
                <a:ea typeface="PingFang SC"/>
                <a:cs typeface="PingFang SC"/>
              </a:defRPr>
            </a:pPr>
            <a:r>
              <a:t>→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C5C3E4B6-CD4D-4CE2-AAAC-E287F40E9E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53650" y="2228850"/>
            <a:ext cx="2000250" cy="80010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2DD4BF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CD7BE2AD-4874-4D07-878D-BBBBC914BC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06050" y="2381250"/>
            <a:ext cx="169545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071521"/>
                </a:solidFill>
                <a:latin typeface="PingFang SC"/>
                <a:ea typeface="PingFang SC"/>
                <a:cs typeface="PingFang SC"/>
              </a:defRPr>
            </a:pPr>
            <a:r>
              <a:t>保存结果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035A6D08-AE57-462E-AFC1-CC5CC5133F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06050" y="2686050"/>
            <a:ext cx="169545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5B707B"/>
                </a:solidFill>
                <a:latin typeface="PingFang SC"/>
                <a:ea typeface="PingFang SC"/>
                <a:cs typeface="PingFang SC"/>
              </a:defRPr>
            </a:pPr>
            <a:r>
              <a:t>backtest_records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8ADCD4D2-7CA8-4F3E-98F5-B61CE08926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714750"/>
            <a:ext cx="5715000" cy="1809750"/>
          </a:xfrm>
          <a:prstGeom xmlns:a="http://schemas.openxmlformats.org/drawingml/2006/main" prst="roundRect">
            <a:avLst>
              <a:gd name="adj" fmla="val 8421"/>
            </a:avLst>
          </a:prstGeom>
          <a:solidFill xmlns:a="http://schemas.openxmlformats.org/drawingml/2006/main">
            <a:srgbClr val="071521"/>
          </a:solidFill>
          <a:ln xmlns:a="http://schemas.openxmlformats.org/drawingml/2006/main" w="0">
            <a:solidFill>
              <a:srgbClr val="071521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96A7346C-BE8D-455D-A9EB-79465AE847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962400"/>
            <a:ext cx="171450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2DD4BF"/>
                </a:solidFill>
                <a:latin typeface="PingFang SC"/>
                <a:ea typeface="PingFang SC"/>
                <a:cs typeface="PingFang SC"/>
              </a:defRPr>
            </a:pPr>
            <a:r>
              <a:t>任务状态机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F062B52E-378F-4FBF-8382-FD8C9699CE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438650"/>
            <a:ext cx="1200150" cy="3238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4C8DFF"/>
          </a:solidFill>
          <a:ln xmlns:a="http://schemas.openxmlformats.org/drawingml/2006/main" w="0">
            <a:solidFill>
              <a:srgbClr val="4C8DFF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38F975AB-9D8B-4DB0-B3F1-14FE31F018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505325"/>
            <a:ext cx="120015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071521"/>
                </a:solidFill>
                <a:latin typeface="Avenir Next"/>
                <a:ea typeface="Avenir Next"/>
                <a:cs typeface="Avenir Next"/>
              </a:defRPr>
            </a:pPr>
            <a:r>
              <a:t>queued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04D83C46-4898-4DE1-B0FC-3DEFB32AFA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38350" y="4400550"/>
            <a:ext cx="381000" cy="381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B9C8C9"/>
                </a:solidFill>
                <a:latin typeface="PingFang SC"/>
                <a:ea typeface="PingFang SC"/>
                <a:cs typeface="PingFang SC"/>
              </a:defRPr>
            </a:pPr>
            <a:r>
              <a:t>→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D7A3327A-DACA-43C1-A26D-8A150C8CA8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38400" y="4438650"/>
            <a:ext cx="1200150" cy="3238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2B84B"/>
          </a:solidFill>
          <a:ln xmlns:a="http://schemas.openxmlformats.org/drawingml/2006/main" w="0">
            <a:solidFill>
              <a:srgbClr val="F2B84B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85F74A0C-A673-428B-8995-4D6F7C40B9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38400" y="4505325"/>
            <a:ext cx="120015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071521"/>
                </a:solidFill>
                <a:latin typeface="Avenir Next"/>
                <a:ea typeface="Avenir Next"/>
                <a:cs typeface="Avenir Next"/>
              </a:defRPr>
            </a:pPr>
            <a:r>
              <a:t>running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188C42AD-DF20-40FA-B33C-A03967262B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57600" y="4400550"/>
            <a:ext cx="381000" cy="381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B9C8C9"/>
                </a:solidFill>
                <a:latin typeface="PingFang SC"/>
                <a:ea typeface="PingFang SC"/>
                <a:cs typeface="PingFang SC"/>
              </a:defRPr>
            </a:pPr>
            <a:r>
              <a:t>→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56503817-9D52-4C65-AE63-241940745D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57650" y="4438650"/>
            <a:ext cx="1200150" cy="3238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DD4BF"/>
          </a:solidFill>
          <a:ln xmlns:a="http://schemas.openxmlformats.org/drawingml/2006/main" w="0">
            <a:solidFill>
              <a:srgbClr val="2DD4BF"/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69F8817D-88F7-4AA7-95E7-4E97C41A97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57650" y="4505325"/>
            <a:ext cx="120015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071521"/>
                </a:solidFill>
                <a:latin typeface="Avenir Next"/>
                <a:ea typeface="Avenir Next"/>
                <a:cs typeface="Avenir Next"/>
              </a:defRPr>
            </a:pPr>
            <a:r>
              <a:t>succeeded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C7063F64-7067-4C9F-9361-4BC6B0CA5D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38400" y="4857750"/>
            <a:ext cx="1200150" cy="3238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D75A5A"/>
          </a:solidFill>
          <a:ln xmlns:a="http://schemas.openxmlformats.org/drawingml/2006/main" w="0">
            <a:solidFill>
              <a:srgbClr val="D75A5A"/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DD643010-2290-412D-AE99-40087A21EC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38400" y="4924425"/>
            <a:ext cx="120015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071521"/>
                </a:solidFill>
                <a:latin typeface="Avenir Next"/>
                <a:ea typeface="Avenir Next"/>
                <a:cs typeface="Avenir Next"/>
              </a:defRPr>
            </a:pPr>
            <a:r>
              <a:t>failed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E07518CF-5CA8-43D7-BCDF-D612A33B8F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57650" y="4857750"/>
            <a:ext cx="1200150" cy="3238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9AA7AD"/>
          </a:solidFill>
          <a:ln xmlns:a="http://schemas.openxmlformats.org/drawingml/2006/main" w="0">
            <a:solidFill>
              <a:srgbClr val="9AA7AD"/>
            </a:solidFill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3C875E23-85A7-43BD-A86B-9276AAF452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57650" y="4924425"/>
            <a:ext cx="120015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071521"/>
                </a:solidFill>
                <a:latin typeface="Avenir Next"/>
                <a:ea typeface="Avenir Next"/>
                <a:cs typeface="Avenir Next"/>
              </a:defRPr>
            </a:pPr>
            <a:r>
              <a:t>cancelled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8D8413CE-6A27-49EC-82A0-19BADC2072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5143500"/>
            <a:ext cx="495300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B7C6CA"/>
                </a:solidFill>
                <a:latin typeface="PingFang SC"/>
                <a:ea typeface="PingFang SC"/>
                <a:cs typeface="PingFang SC"/>
              </a:defRPr>
            </a:pPr>
            <a:r>
              <a:t>支持取消、失败重试、服务重启后的 interrupted job 恢复。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E8DC6B61-9733-489F-9D8F-B93BE0F71F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3714750"/>
            <a:ext cx="4933950" cy="1809750"/>
          </a:xfrm>
          <a:prstGeom xmlns:a="http://schemas.openxmlformats.org/drawingml/2006/main" prst="roundRect">
            <a:avLst>
              <a:gd name="adj" fmla="val 842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E1DE"/>
            </a:solidFill>
            <a:prstDash val="solid"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014008AC-4269-4F03-AE2E-2255AC0DDC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91350" y="3962400"/>
            <a:ext cx="171450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071521"/>
                </a:solidFill>
                <a:latin typeface="PingFang SC"/>
                <a:ea typeface="PingFang SC"/>
                <a:cs typeface="PingFang SC"/>
              </a:defRPr>
            </a:pPr>
            <a:r>
              <a:t>实现要点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2F7B2D25-E9C4-4889-823C-5E2F051BD4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91350" y="4381500"/>
            <a:ext cx="400050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B707B"/>
                </a:solidFill>
                <a:latin typeface="PingFang SC"/>
                <a:ea typeface="PingFang SC"/>
                <a:cs typeface="PingFang SC"/>
              </a:defRPr>
            </a:pPr>
            <a:r>
              <a:t>• BacktestJob 保存请求参数与状态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9BDB0A2C-625E-439F-B58F-936F716BFF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91350" y="4629150"/>
            <a:ext cx="400050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B707B"/>
                </a:solidFill>
                <a:latin typeface="PingFang SC"/>
                <a:ea typeface="PingFang SC"/>
                <a:cs typeface="PingFang SC"/>
              </a:defRPr>
            </a:pPr>
            <a:r>
              <a:t>• 后台线程使用独立 Session 执行任务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7BB213DF-6BFF-49D2-BBB9-4AC8185B5B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91350" y="4876800"/>
            <a:ext cx="400050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B707B"/>
                </a:solidFill>
                <a:latin typeface="PingFang SC"/>
                <a:ea typeface="PingFang SC"/>
                <a:cs typeface="PingFang SC"/>
              </a:defRPr>
            </a:pPr>
            <a:r>
              <a:t>• 成功后写入 result_backtest_id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EBDDAB4A-80B1-4D4F-88ED-72DE693E5D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91350" y="5124450"/>
            <a:ext cx="400050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B707B"/>
                </a:solidFill>
                <a:latin typeface="PingFang SC"/>
                <a:ea typeface="PingFang SC"/>
                <a:cs typeface="PingFang SC"/>
              </a:defRPr>
            </a:pPr>
            <a:r>
              <a:t>• 前端任务列表展示状态和失败原因</a:t>
            </a:r>
          </a:p>
        </p:txBody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F7B2A9C6-CF34-4288-8E42-C31C3AD28E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534150"/>
            <a:ext cx="3143250" cy="152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5B707B"/>
                </a:solidFill>
                <a:latin typeface="Avenir Next"/>
                <a:ea typeface="Avenir Next"/>
                <a:cs typeface="Avenir Next"/>
              </a:defRPr>
            </a:pPr>
            <a:r>
              <a:t>QUANT PLATFORM / COURSE DEFENSE</a:t>
            </a:r>
          </a:p>
        </p:txBody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E730BFA8-2FA7-48A6-8853-C332CC2942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6534150"/>
            <a:ext cx="6858000" cy="152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750" b="0">
                <a:solidFill>
                  <a:srgbClr val="5B707B"/>
                </a:solidFill>
                <a:latin typeface="PingFang SC"/>
                <a:ea typeface="PingFang SC"/>
                <a:cs typeface="PingFang SC"/>
              </a:defRPr>
            </a:pPr>
            <a:r>
              <a:t>来源：backend/app/services/backtest_job_service.py</a:t>
            </a:r>
          </a:p>
        </p:txBody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38B5A8ED-DC73-4E3B-9254-AECA011A70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534150"/>
            <a:ext cx="304800" cy="152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750" b="1">
                <a:solidFill>
                  <a:srgbClr val="5B707B"/>
                </a:solidFill>
                <a:latin typeface="Avenir Next"/>
                <a:ea typeface="Avenir Next"/>
                <a:cs typeface="Avenir Next"/>
              </a:defRPr>
            </a:pPr>
            <a:r>
              <a:t>08</a:t>
            </a:r>
          </a:p>
        </p:txBody>
      </p:sp>
    </p:spTree>
    <p:extLst>
      <p:ext uri="{BB962C8B-B14F-4D97-AF65-F5344CB8AC3E}">
        <p14:creationId xmlns:p14="http://schemas.microsoft.com/office/powerpoint/2010/main" val="1916977118"/>
      </p:ext>
    </p:extLst>
  </p:cSld>
</p:sld>
</file>

<file path=ppt/slides/slide9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slide-background">
            <a:extLst xmlns:a="http://schemas.openxmlformats.org/drawingml/2006/main">
              <a:ext uri="{FF2B5EF4-FFF2-40B4-BE49-F238E27FC236}">
                <a16:creationId xmlns:a16="http://schemas.microsoft.com/office/drawing/2014/main" id="{E223336C-28AC-4785-BF2E-EAAB9241C1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521"/>
          </a:solidFill>
          <a:ln xmlns:a="http://schemas.openxmlformats.org/drawingml/2006/main" w="0">
            <a:solidFill>
              <a:srgbClr val="071521"/>
            </a:solidFill>
            <a:prstDash val="solid"/>
          </a:ln>
        </p:spPr>
      </p:sp>
      <p:sp>
        <p:nvSpPr>
          <p:cNvPr id="2" name="kicker-marker">
            <a:extLst xmlns:a="http://schemas.openxmlformats.org/drawingml/2006/main">
              <a:ext uri="{FF2B5EF4-FFF2-40B4-BE49-F238E27FC236}">
                <a16:creationId xmlns:a16="http://schemas.microsoft.com/office/drawing/2014/main" id="{08EBBFE7-D64C-48B8-8B95-8601199AC7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09575"/>
            <a:ext cx="76200" cy="762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DD4BF"/>
          </a:solidFill>
          <a:ln xmlns:a="http://schemas.openxmlformats.org/drawingml/2006/main" w="0">
            <a:solidFill>
              <a:srgbClr val="2DD4BF"/>
            </a:solidFill>
            <a:prstDash val="solid"/>
          </a:ln>
        </p:spPr>
      </p:sp>
      <p:sp>
        <p:nvSpPr>
          <p:cNvPr id="3" name="kicker-label">
            <a:extLst xmlns:a="http://schemas.openxmlformats.org/drawingml/2006/main">
              <a:ext uri="{FF2B5EF4-FFF2-40B4-BE49-F238E27FC236}">
                <a16:creationId xmlns:a16="http://schemas.microsoft.com/office/drawing/2014/main" id="{6DDF36B4-163B-4AD7-B1CA-CD5EDBC96C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14325"/>
            <a:ext cx="409575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F5F1E8"/>
                </a:solidFill>
                <a:latin typeface="Avenir Next"/>
                <a:ea typeface="Avenir Next"/>
                <a:cs typeface="Avenir Next"/>
              </a:defRPr>
            </a:pPr>
            <a:r>
              <a:t>BACKTEST ENGINE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C7DF4A8-496D-43A3-9B7A-82FAE3BB17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838200"/>
            <a:ext cx="8572500" cy="4762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F5F1E8"/>
                </a:solidFill>
                <a:latin typeface="PingFang SC"/>
                <a:ea typeface="PingFang SC"/>
                <a:cs typeface="PingFang SC"/>
              </a:defRPr>
            </a:pPr>
            <a:r>
              <a:t>回测引擎执行模型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1672FB2-A9E3-4259-8149-F910E90EC0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409700"/>
            <a:ext cx="9906000" cy="323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B7C6CA"/>
                </a:solidFill>
                <a:latin typeface="PingFang SC"/>
                <a:ea typeface="PingFang SC"/>
                <a:cs typeface="PingFang SC"/>
              </a:defRPr>
            </a:pPr>
            <a:r>
              <a:t>量化核心以逐 Bar 循环运行，策略、撮合、风控和指标计算保持模块化。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6B6EB1C-4FA9-481E-99CD-BF1FE0386F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114550"/>
            <a:ext cx="5905500" cy="3143250"/>
          </a:xfrm>
          <a:prstGeom xmlns:a="http://schemas.openxmlformats.org/drawingml/2006/main" prst="roundRect">
            <a:avLst>
              <a:gd name="adj" fmla="val 5455"/>
            </a:avLst>
          </a:prstGeom>
          <a:solidFill xmlns:a="http://schemas.openxmlformats.org/drawingml/2006/main">
            <a:srgbClr val="06101A"/>
          </a:solidFill>
          <a:ln xmlns:a="http://schemas.openxmlformats.org/drawingml/2006/main" w="9525">
            <a:solidFill>
              <a:srgbClr val="294554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E9D06E9-C7B0-4BB5-8ABB-B4EFE688B9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362200"/>
            <a:ext cx="247650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2DD4BF"/>
                </a:solidFill>
                <a:latin typeface="Avenir Next"/>
                <a:ea typeface="Avenir Next"/>
                <a:cs typeface="Avenir Next"/>
              </a:defRPr>
            </a:pPr>
            <a:r>
              <a:t>BacktestEngine.run()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050BB31-8423-4FD1-80DF-141ADE352E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876550"/>
            <a:ext cx="514350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F5F1E8"/>
                </a:solidFill>
                <a:latin typeface="Menlo"/>
                <a:ea typeface="Menlo"/>
                <a:cs typeface="Menlo"/>
              </a:defRPr>
            </a:pPr>
            <a:r>
              <a:t>for kline in data: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C7B2811-6830-4FC6-B454-C82F70FE2F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124200"/>
            <a:ext cx="514350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F5F1E8"/>
                </a:solidFill>
                <a:latin typeface="Menlo"/>
                <a:ea typeface="Menlo"/>
                <a:cs typeface="Menlo"/>
              </a:defRPr>
            </a:pPr>
            <a:r>
              <a:t>    broker.execute_pending_orders(kline)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05E352E-6AC5-42D4-B11E-9257F215DA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371850"/>
            <a:ext cx="514350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F5F1E8"/>
                </a:solidFill>
                <a:latin typeface="Menlo"/>
                <a:ea typeface="Menlo"/>
                <a:cs typeface="Menlo"/>
              </a:defRPr>
            </a:pPr>
            <a:r>
              <a:t>    context.history.append(kline)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8E82A83-6E2C-47F6-A160-CE53A1D84E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619500"/>
            <a:ext cx="514350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F5F1E8"/>
                </a:solidFill>
                <a:latin typeface="Menlo"/>
                <a:ea typeface="Menlo"/>
                <a:cs typeface="Menlo"/>
              </a:defRPr>
            </a:pPr>
            <a:r>
              <a:t>    strategy.on_bar(kline)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FFD2F4A-F8E7-4474-8E23-F9CD659976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867150"/>
            <a:ext cx="514350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F5F1E8"/>
                </a:solidFill>
                <a:latin typeface="Menlo"/>
                <a:ea typeface="Menlo"/>
                <a:cs typeface="Menlo"/>
              </a:defRPr>
            </a:pPr>
            <a:r>
              <a:t>    broker.mark_to_market(kline)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C743E5A-9E45-4382-B0EA-FA37C6A67B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552950"/>
            <a:ext cx="5143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102838"/>
          </a:solidFill>
          <a:ln xmlns:a="http://schemas.openxmlformats.org/drawingml/2006/main" w="0">
            <a:solidFill>
              <a:srgbClr val="102838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394C73E-7700-4C96-B026-85BE2B4117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4648200"/>
            <a:ext cx="4762500" cy="21907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2B84B"/>
                </a:solidFill>
                <a:latin typeface="PingFang SC"/>
                <a:ea typeface="PingFang SC"/>
                <a:cs typeface="PingFang SC"/>
              </a:defRPr>
            </a:pPr>
            <a:r>
              <a:t>成交价使用当前 Bar open；权益更新使用当前 Bar close。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24A5C40-0BB4-4B50-84BE-CDFAF6B0E4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62800" y="2152650"/>
            <a:ext cx="381000" cy="3810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DD4BF"/>
          </a:solidFill>
          <a:ln xmlns:a="http://schemas.openxmlformats.org/drawingml/2006/main" w="0">
            <a:solidFill>
              <a:srgbClr val="2DD4BF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9D4F2A8-6C5F-425E-8814-162278045B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62800" y="2152650"/>
            <a:ext cx="381000" cy="381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071521"/>
                </a:solidFill>
                <a:latin typeface="Avenir Next"/>
                <a:ea typeface="Avenir Next"/>
                <a:cs typeface="Avenir Next"/>
              </a:defRPr>
            </a:pPr>
            <a:r>
              <a:t>1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8898D40-D8D8-44FD-873C-52F1C7E208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53350" y="2133600"/>
            <a:ext cx="3238500" cy="247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5F1E8"/>
                </a:solidFill>
                <a:latin typeface="PingFang SC"/>
                <a:ea typeface="PingFang SC"/>
                <a:cs typeface="PingFang SC"/>
              </a:defRPr>
            </a:pPr>
            <a:r>
              <a:t>执行待成交订单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AF458D9-0AC0-4BC9-BCA9-055B49F97A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53350" y="2400300"/>
            <a:ext cx="333375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9CB0B7"/>
                </a:solidFill>
                <a:latin typeface="PingFang SC"/>
                <a:ea typeface="PingFang SC"/>
                <a:cs typeface="PingFang SC"/>
              </a:defRPr>
            </a:pPr>
            <a:r>
              <a:t>上一轮策略信号进入当前 Bar 撮合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5D0D613C-C7C8-4811-9D41-DC4FD54F08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81850" y="2571750"/>
            <a:ext cx="381000" cy="381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4B6672"/>
                </a:solidFill>
                <a:latin typeface="PingFang SC"/>
                <a:ea typeface="PingFang SC"/>
                <a:cs typeface="PingFang SC"/>
              </a:defRPr>
            </a:pPr>
            <a:r>
              <a:t>↓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A038C6E2-C0F1-4769-969B-6584F571E0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62800" y="2971800"/>
            <a:ext cx="381000" cy="3810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4C8DFF"/>
          </a:solidFill>
          <a:ln xmlns:a="http://schemas.openxmlformats.org/drawingml/2006/main" w="0">
            <a:solidFill>
              <a:srgbClr val="4C8DFF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3B00E168-34E3-4079-83FA-9DE38ECDEB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62800" y="2971800"/>
            <a:ext cx="381000" cy="381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071521"/>
                </a:solidFill>
                <a:latin typeface="Avenir Next"/>
                <a:ea typeface="Avenir Next"/>
                <a:cs typeface="Avenir Next"/>
              </a:defRPr>
            </a:pPr>
            <a:r>
              <a:t>2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9668294B-548D-4D6B-9C67-761A3CB944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53350" y="2952750"/>
            <a:ext cx="3238500" cy="247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5F1E8"/>
                </a:solidFill>
                <a:latin typeface="PingFang SC"/>
                <a:ea typeface="PingFang SC"/>
                <a:cs typeface="PingFang SC"/>
              </a:defRPr>
            </a:pPr>
            <a:r>
              <a:t>更新历史序列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42F6DA9F-8747-4FC1-AF25-65CEC038CD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53350" y="3219450"/>
            <a:ext cx="333375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9CB0B7"/>
                </a:solidFill>
                <a:latin typeface="PingFang SC"/>
                <a:ea typeface="PingFang SC"/>
                <a:cs typeface="PingFang SC"/>
              </a:defRPr>
            </a:pPr>
            <a:r>
              <a:t>当前 K 线进入 StrategyContext.history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59852980-40EA-470A-866B-57FED6682A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81850" y="3390900"/>
            <a:ext cx="381000" cy="381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4B6672"/>
                </a:solidFill>
                <a:latin typeface="PingFang SC"/>
                <a:ea typeface="PingFang SC"/>
                <a:cs typeface="PingFang SC"/>
              </a:defRPr>
            </a:pPr>
            <a:r>
              <a:t>↓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EBB48A3C-B7B6-4042-8213-8CC8878D05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62800" y="3790950"/>
            <a:ext cx="381000" cy="3810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2B84B"/>
          </a:solidFill>
          <a:ln xmlns:a="http://schemas.openxmlformats.org/drawingml/2006/main" w="0">
            <a:solidFill>
              <a:srgbClr val="F2B84B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EA1F5491-2006-4D5F-BE25-468F628968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62800" y="3790950"/>
            <a:ext cx="381000" cy="381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071521"/>
                </a:solidFill>
                <a:latin typeface="Avenir Next"/>
                <a:ea typeface="Avenir Next"/>
                <a:cs typeface="Avenir Next"/>
              </a:defRPr>
            </a:pPr>
            <a:r>
              <a:t>3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69822605-A865-420E-A43D-4AA122AC0B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53350" y="3771900"/>
            <a:ext cx="3238500" cy="247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5F1E8"/>
                </a:solidFill>
                <a:latin typeface="PingFang SC"/>
                <a:ea typeface="PingFang SC"/>
                <a:cs typeface="PingFang SC"/>
              </a:defRPr>
            </a:pPr>
            <a:r>
              <a:t>策略生成信号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CE655533-6EC6-43E2-BF4D-2FB658CEE4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53350" y="4038600"/>
            <a:ext cx="333375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9CB0B7"/>
                </a:solidFill>
                <a:latin typeface="PingFang SC"/>
                <a:ea typeface="PingFang SC"/>
                <a:cs typeface="PingFang SC"/>
              </a:defRPr>
            </a:pPr>
            <a:r>
              <a:t>内置策略或自定义脚本提交订单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9729D52E-EDBF-478E-9B2D-3B9615573F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81850" y="4210050"/>
            <a:ext cx="381000" cy="381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4B6672"/>
                </a:solidFill>
                <a:latin typeface="PingFang SC"/>
                <a:ea typeface="PingFang SC"/>
                <a:cs typeface="PingFang SC"/>
              </a:defRPr>
            </a:pPr>
            <a:r>
              <a:t>↓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F6ECE363-BB52-42D2-AF2C-99E0C3BE5A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62800" y="4610100"/>
            <a:ext cx="381000" cy="3810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D75A5A"/>
          </a:solidFill>
          <a:ln xmlns:a="http://schemas.openxmlformats.org/drawingml/2006/main" w="0">
            <a:solidFill>
              <a:srgbClr val="D75A5A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8555BA42-5E39-4BED-B7A7-4DC84C2C16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62800" y="4610100"/>
            <a:ext cx="381000" cy="381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071521"/>
                </a:solidFill>
                <a:latin typeface="Avenir Next"/>
                <a:ea typeface="Avenir Next"/>
                <a:cs typeface="Avenir Next"/>
              </a:defRPr>
            </a:pPr>
            <a:r>
              <a:t>4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740C246B-2BCF-47E6-8AC7-A429B17837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53350" y="4591050"/>
            <a:ext cx="3238500" cy="247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5F1E8"/>
                </a:solidFill>
                <a:latin typeface="PingFang SC"/>
                <a:ea typeface="PingFang SC"/>
                <a:cs typeface="PingFang SC"/>
              </a:defRPr>
            </a:pPr>
            <a:r>
              <a:t>计算权益与指标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F0F3F615-EF85-4DA5-B76E-494DCE0A7A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53350" y="4857750"/>
            <a:ext cx="333375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9CB0B7"/>
                </a:solidFill>
                <a:latin typeface="PingFang SC"/>
                <a:ea typeface="PingFang SC"/>
                <a:cs typeface="PingFang SC"/>
              </a:defRPr>
            </a:pPr>
            <a:r>
              <a:t>Broker 记录 trades 与 equity_curve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412B9388-8E18-43D7-8AA0-C64512B9C0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5676900"/>
            <a:ext cx="11087100" cy="400050"/>
          </a:xfrm>
          <a:prstGeom xmlns:a="http://schemas.openxmlformats.org/drawingml/2006/main" prst="roundRect">
            <a:avLst>
              <a:gd name="adj" fmla="val 23810"/>
            </a:avLst>
          </a:prstGeom>
          <a:solidFill xmlns:a="http://schemas.openxmlformats.org/drawingml/2006/main">
            <a:srgbClr val="2DD4BF"/>
          </a:solidFill>
          <a:ln xmlns:a="http://schemas.openxmlformats.org/drawingml/2006/main" w="0">
            <a:solidFill>
              <a:srgbClr val="2DD4BF"/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4FCC030F-204B-43E6-A518-99E7204C1B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5772150"/>
            <a:ext cx="1055370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071521"/>
                </a:solidFill>
                <a:latin typeface="PingFang SC"/>
                <a:ea typeface="PingFang SC"/>
                <a:cs typeface="PingFang SC"/>
              </a:defRPr>
            </a:pPr>
            <a:r>
              <a:t>相关模块：quant_engine/engine.py、broker/simulated.py、risk.py、analyzer/performance.py。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B34B15F5-B34E-4BF3-AE73-A2E8A6DE24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534150"/>
            <a:ext cx="3143250" cy="152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8AA0A8"/>
                </a:solidFill>
                <a:latin typeface="Avenir Next"/>
                <a:ea typeface="Avenir Next"/>
                <a:cs typeface="Avenir Next"/>
              </a:defRPr>
            </a:pPr>
            <a:r>
              <a:t>QUANT PLATFORM / COURSE DEFENSE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EC5979A2-9966-4C3A-B187-928EBA15C5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6534150"/>
            <a:ext cx="6858000" cy="152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750" b="0">
                <a:solidFill>
                  <a:srgbClr val="8AA0A8"/>
                </a:solidFill>
                <a:latin typeface="PingFang SC"/>
                <a:ea typeface="PingFang SC"/>
                <a:cs typeface="PingFang SC"/>
              </a:defRPr>
            </a:pPr>
            <a:r>
              <a:t>来源：quant_engine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011BA35F-3B97-4F6A-B417-7569442BFC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534150"/>
            <a:ext cx="304800" cy="152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750" b="1">
                <a:solidFill>
                  <a:srgbClr val="8AA0A8"/>
                </a:solidFill>
                <a:latin typeface="Avenir Next"/>
                <a:ea typeface="Avenir Next"/>
                <a:cs typeface="Avenir Next"/>
              </a:defRPr>
            </a:pPr>
            <a:r>
              <a:t>09</a:t>
            </a:r>
          </a:p>
        </p:txBody>
      </p:sp>
    </p:spTree>
    <p:extLst>
      <p:ext uri="{BB962C8B-B14F-4D97-AF65-F5344CB8AC3E}">
        <p14:creationId xmlns:p14="http://schemas.microsoft.com/office/powerpoint/2010/main" val="2045249261"/>
      </p:ext>
    </p:extLst>
  </p:cSld>
</p:sld>
</file>

<file path=ppt/slides/slide10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slide-background">
            <a:extLst xmlns:a="http://schemas.openxmlformats.org/drawingml/2006/main">
              <a:ext uri="{FF2B5EF4-FFF2-40B4-BE49-F238E27FC236}">
                <a16:creationId xmlns:a16="http://schemas.microsoft.com/office/drawing/2014/main" id="{7CB491B8-2C5D-469E-A926-37C3F4810F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521"/>
          </a:solidFill>
          <a:ln xmlns:a="http://schemas.openxmlformats.org/drawingml/2006/main" w="0">
            <a:solidFill>
              <a:srgbClr val="071521"/>
            </a:solidFill>
            <a:prstDash val="solid"/>
          </a:ln>
        </p:spPr>
      </p:sp>
      <p:sp>
        <p:nvSpPr>
          <p:cNvPr id="2" name="kicker-marker">
            <a:extLst xmlns:a="http://schemas.openxmlformats.org/drawingml/2006/main">
              <a:ext uri="{FF2B5EF4-FFF2-40B4-BE49-F238E27FC236}">
                <a16:creationId xmlns:a16="http://schemas.microsoft.com/office/drawing/2014/main" id="{0C1DC4B8-B41F-4630-9B67-869181F5D3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09575"/>
            <a:ext cx="76200" cy="762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DD4BF"/>
          </a:solidFill>
          <a:ln xmlns:a="http://schemas.openxmlformats.org/drawingml/2006/main" w="0">
            <a:solidFill>
              <a:srgbClr val="2DD4BF"/>
            </a:solidFill>
            <a:prstDash val="solid"/>
          </a:ln>
        </p:spPr>
      </p:sp>
      <p:sp>
        <p:nvSpPr>
          <p:cNvPr id="3" name="kicker-label">
            <a:extLst xmlns:a="http://schemas.openxmlformats.org/drawingml/2006/main">
              <a:ext uri="{FF2B5EF4-FFF2-40B4-BE49-F238E27FC236}">
                <a16:creationId xmlns:a16="http://schemas.microsoft.com/office/drawing/2014/main" id="{9D602B74-4449-4827-BEA6-922474148A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14325"/>
            <a:ext cx="409575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F5F1E8"/>
                </a:solidFill>
                <a:latin typeface="Avenir Next"/>
                <a:ea typeface="Avenir Next"/>
                <a:cs typeface="Avenir Next"/>
              </a:defRPr>
            </a:pPr>
            <a:r>
              <a:t>AI ANALYSIS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B23FD27-1740-4AB7-81E2-9F73102A19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838200"/>
            <a:ext cx="8572500" cy="4762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F5F1E8"/>
                </a:solidFill>
                <a:latin typeface="PingFang SC"/>
                <a:ea typeface="PingFang SC"/>
                <a:cs typeface="PingFang SC"/>
              </a:defRPr>
            </a:pPr>
            <a:r>
              <a:t>AI 智能推荐分析模块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E35C20B-9557-4FFA-B44C-8DC4BD99BE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409700"/>
            <a:ext cx="9906000" cy="323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B7C6CA"/>
                </a:solidFill>
                <a:latin typeface="PingFang SC"/>
                <a:ea typeface="PingFang SC"/>
                <a:cs typeface="PingFang SC"/>
              </a:defRPr>
            </a:pPr>
            <a:r>
              <a:t>AI 模块把回测记录整理为结构化上下文，再由外部大模型或本地引擎生成分析结果。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30251DB-4977-454A-9E14-649EE4BCE5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076450"/>
            <a:ext cx="3143250" cy="3028950"/>
          </a:xfrm>
          <a:prstGeom xmlns:a="http://schemas.openxmlformats.org/drawingml/2006/main" prst="roundRect">
            <a:avLst>
              <a:gd name="adj" fmla="val 5031"/>
            </a:avLst>
          </a:prstGeom>
          <a:solidFill xmlns:a="http://schemas.openxmlformats.org/drawingml/2006/main">
            <a:srgbClr val="102838"/>
          </a:solidFill>
          <a:ln xmlns:a="http://schemas.openxmlformats.org/drawingml/2006/main" w="0">
            <a:solidFill>
              <a:srgbClr val="102838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1B6748D-D649-4517-AD80-2C0960BFDC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305050"/>
            <a:ext cx="228600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2DD4BF"/>
                </a:solidFill>
                <a:latin typeface="PingFang SC"/>
                <a:ea typeface="PingFang SC"/>
                <a:cs typeface="PingFang SC"/>
              </a:defRPr>
            </a:pPr>
            <a:r>
              <a:t>输入上下文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D72D371-2BBC-4FF7-AC54-4D7FECD0D8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781300"/>
            <a:ext cx="2667000" cy="361950"/>
          </a:xfrm>
          <a:prstGeom xmlns:a="http://schemas.openxmlformats.org/drawingml/2006/main" prst="roundRect">
            <a:avLst>
              <a:gd name="adj" fmla="val 21053"/>
            </a:avLst>
          </a:prstGeom>
          <a:solidFill xmlns:a="http://schemas.openxmlformats.org/drawingml/2006/main">
            <a:srgbClr val="153243"/>
          </a:solidFill>
          <a:ln xmlns:a="http://schemas.openxmlformats.org/drawingml/2006/main" w="0">
            <a:solidFill>
              <a:srgbClr val="153243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6E3E4E0-90B4-4008-8EEE-E5606988BF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857500"/>
            <a:ext cx="236220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F5F1E8"/>
                </a:solidFill>
                <a:latin typeface="PingFang SC"/>
                <a:ea typeface="PingFang SC"/>
                <a:cs typeface="PingFang SC"/>
              </a:defRPr>
            </a:pPr>
            <a:r>
              <a:t>策略名称与参数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C14D8CF-4D0F-4E6D-8C3F-34290767DC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257550"/>
            <a:ext cx="2667000" cy="361950"/>
          </a:xfrm>
          <a:prstGeom xmlns:a="http://schemas.openxmlformats.org/drawingml/2006/main" prst="roundRect">
            <a:avLst>
              <a:gd name="adj" fmla="val 21053"/>
            </a:avLst>
          </a:prstGeom>
          <a:solidFill xmlns:a="http://schemas.openxmlformats.org/drawingml/2006/main">
            <a:srgbClr val="153243"/>
          </a:solidFill>
          <a:ln xmlns:a="http://schemas.openxmlformats.org/drawingml/2006/main" w="0">
            <a:solidFill>
              <a:srgbClr val="153243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2EB0B1F-E930-4A64-A70E-485B07D7F6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333750"/>
            <a:ext cx="236220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F5F1E8"/>
                </a:solidFill>
                <a:latin typeface="PingFang SC"/>
                <a:ea typeface="PingFang SC"/>
                <a:cs typeface="PingFang SC"/>
              </a:defRPr>
            </a:pPr>
            <a:r>
              <a:t>收益率、回撤、Sharpe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AD4C55F-E070-4AB7-93DE-F3F130ABFC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733800"/>
            <a:ext cx="2667000" cy="361950"/>
          </a:xfrm>
          <a:prstGeom xmlns:a="http://schemas.openxmlformats.org/drawingml/2006/main" prst="roundRect">
            <a:avLst>
              <a:gd name="adj" fmla="val 21053"/>
            </a:avLst>
          </a:prstGeom>
          <a:solidFill xmlns:a="http://schemas.openxmlformats.org/drawingml/2006/main">
            <a:srgbClr val="153243"/>
          </a:solidFill>
          <a:ln xmlns:a="http://schemas.openxmlformats.org/drawingml/2006/main" w="0">
            <a:solidFill>
              <a:srgbClr val="153243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E3CA3BB-AF36-4E3C-8E98-913F22D9E6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810000"/>
            <a:ext cx="236220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F5F1E8"/>
                </a:solidFill>
                <a:latin typeface="PingFang SC"/>
                <a:ea typeface="PingFang SC"/>
                <a:cs typeface="PingFang SC"/>
              </a:defRPr>
            </a:pPr>
            <a:r>
              <a:t>交易次数、胜率、权益曲线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D753081-1261-4F37-96A5-B63ED78133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210050"/>
            <a:ext cx="2667000" cy="361950"/>
          </a:xfrm>
          <a:prstGeom xmlns:a="http://schemas.openxmlformats.org/drawingml/2006/main" prst="roundRect">
            <a:avLst>
              <a:gd name="adj" fmla="val 21053"/>
            </a:avLst>
          </a:prstGeom>
          <a:solidFill xmlns:a="http://schemas.openxmlformats.org/drawingml/2006/main">
            <a:srgbClr val="153243"/>
          </a:solidFill>
          <a:ln xmlns:a="http://schemas.openxmlformats.org/drawingml/2006/main" w="0">
            <a:solidFill>
              <a:srgbClr val="153243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C9671DB-2EDF-40F3-8EFE-844128B023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4286250"/>
            <a:ext cx="236220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F5F1E8"/>
                </a:solidFill>
                <a:latin typeface="PingFang SC"/>
                <a:ea typeface="PingFang SC"/>
                <a:cs typeface="PingFang SC"/>
              </a:defRPr>
            </a:pPr>
            <a:r>
              <a:t>标的、周期、时间范围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B8ECC87-BB27-4431-9BF1-785E9EA146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90950" y="3371850"/>
            <a:ext cx="381000" cy="381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2DD4BF"/>
                </a:solidFill>
                <a:latin typeface="PingFang SC"/>
                <a:ea typeface="PingFang SC"/>
                <a:cs typeface="PingFang SC"/>
              </a:defRPr>
            </a:pPr>
            <a:r>
              <a:t>→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D98FE20-9412-417B-ADE7-09F9439BBC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29100" y="2476500"/>
            <a:ext cx="3276600" cy="2114550"/>
          </a:xfrm>
          <a:prstGeom xmlns:a="http://schemas.openxmlformats.org/drawingml/2006/main" prst="roundRect">
            <a:avLst>
              <a:gd name="adj" fmla="val 8108"/>
            </a:avLst>
          </a:prstGeom>
          <a:solidFill xmlns:a="http://schemas.openxmlformats.org/drawingml/2006/main">
            <a:srgbClr val="06101A"/>
          </a:solidFill>
          <a:ln xmlns:a="http://schemas.openxmlformats.org/drawingml/2006/main" w="9525">
            <a:solidFill>
              <a:srgbClr val="294554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9544F9A-942D-484E-8203-C027122A59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95800" y="2724150"/>
            <a:ext cx="274320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F2B84B"/>
                </a:solidFill>
                <a:latin typeface="Avenir Next"/>
                <a:ea typeface="Avenir Next"/>
                <a:cs typeface="Avenir Next"/>
              </a:defRPr>
            </a:pPr>
            <a:r>
              <a:t>Provider Router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13D3463-AF92-4F0B-9155-C8613A8DBC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0100" y="3162300"/>
            <a:ext cx="2514600" cy="438150"/>
          </a:xfrm>
          <a:prstGeom xmlns:a="http://schemas.openxmlformats.org/drawingml/2006/main" prst="roundRect">
            <a:avLst>
              <a:gd name="adj" fmla="val 19565"/>
            </a:avLst>
          </a:prstGeom>
          <a:solidFill xmlns:a="http://schemas.openxmlformats.org/drawingml/2006/main">
            <a:srgbClr val="2DD4BF"/>
          </a:solidFill>
          <a:ln xmlns:a="http://schemas.openxmlformats.org/drawingml/2006/main" w="0">
            <a:solidFill>
              <a:srgbClr val="2DD4BF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3530DBEE-954C-4D52-BA1A-E022DC8EB4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0100" y="3257550"/>
            <a:ext cx="2514600" cy="247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71521"/>
                </a:solidFill>
                <a:latin typeface="Avenir Next"/>
                <a:ea typeface="Avenir Next"/>
                <a:cs typeface="Avenir Next"/>
              </a:defRPr>
            </a:pPr>
            <a:r>
              <a:t>Gemini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B938021B-AE65-4CE1-8418-FF2225A5A3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0100" y="3752850"/>
            <a:ext cx="1181100" cy="419100"/>
          </a:xfrm>
          <a:prstGeom xmlns:a="http://schemas.openxmlformats.org/drawingml/2006/main" prst="roundRect">
            <a:avLst>
              <a:gd name="adj" fmla="val 20455"/>
            </a:avLst>
          </a:prstGeom>
          <a:solidFill xmlns:a="http://schemas.openxmlformats.org/drawingml/2006/main">
            <a:srgbClr val="153243"/>
          </a:solidFill>
          <a:ln xmlns:a="http://schemas.openxmlformats.org/drawingml/2006/main" w="0">
            <a:solidFill>
              <a:srgbClr val="153243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139B53CF-228A-41E9-84A0-7824E05093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0100" y="3848100"/>
            <a:ext cx="118110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F5F1E8"/>
                </a:solidFill>
                <a:latin typeface="Avenir Next"/>
                <a:ea typeface="Avenir Next"/>
                <a:cs typeface="Avenir Next"/>
              </a:defRPr>
            </a:pPr>
            <a:r>
              <a:t>OpenAI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BEF9CD1A-97B5-4B6C-8A4C-5C9BB0681C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0" y="3752850"/>
            <a:ext cx="1181100" cy="419100"/>
          </a:xfrm>
          <a:prstGeom xmlns:a="http://schemas.openxmlformats.org/drawingml/2006/main" prst="roundRect">
            <a:avLst>
              <a:gd name="adj" fmla="val 20455"/>
            </a:avLst>
          </a:prstGeom>
          <a:solidFill xmlns:a="http://schemas.openxmlformats.org/drawingml/2006/main">
            <a:srgbClr val="153243"/>
          </a:solidFill>
          <a:ln xmlns:a="http://schemas.openxmlformats.org/drawingml/2006/main" w="0">
            <a:solidFill>
              <a:srgbClr val="153243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680A5176-4F50-44E3-A84E-DF215C819E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0" y="3848100"/>
            <a:ext cx="118110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F5F1E8"/>
                </a:solidFill>
                <a:latin typeface="Avenir Next"/>
                <a:ea typeface="Avenir Next"/>
                <a:cs typeface="Avenir Next"/>
              </a:defRPr>
            </a:pPr>
            <a:r>
              <a:t>Local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0DF1BDD3-5C86-4691-A1C6-AA5F96D16D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95800" y="4305300"/>
            <a:ext cx="2743200" cy="171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9CB0B7"/>
                </a:solidFill>
                <a:latin typeface="PingFang SC"/>
                <a:ea typeface="PingFang SC"/>
                <a:cs typeface="PingFang SC"/>
              </a:defRPr>
            </a:pPr>
            <a:r>
              <a:t>失败时记录 fallback_reason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5348CDA5-9B84-43E1-B204-45E8BED5AA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81900" y="3371850"/>
            <a:ext cx="381000" cy="381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2DD4BF"/>
                </a:solidFill>
                <a:latin typeface="PingFang SC"/>
                <a:ea typeface="PingFang SC"/>
                <a:cs typeface="PingFang SC"/>
              </a:defRPr>
            </a:pPr>
            <a:r>
              <a:t>→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E056A3DE-F5B7-4AAB-BF43-193CD4435E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39100" y="2076450"/>
            <a:ext cx="3600450" cy="3028950"/>
          </a:xfrm>
          <a:prstGeom xmlns:a="http://schemas.openxmlformats.org/drawingml/2006/main" prst="roundRect">
            <a:avLst>
              <a:gd name="adj" fmla="val 5031"/>
            </a:avLst>
          </a:prstGeom>
          <a:solidFill xmlns:a="http://schemas.openxmlformats.org/drawingml/2006/main">
            <a:srgbClr val="102838"/>
          </a:solidFill>
          <a:ln xmlns:a="http://schemas.openxmlformats.org/drawingml/2006/main" w="0">
            <a:solidFill>
              <a:srgbClr val="102838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6BA7D34C-2509-4AE6-8980-28438FC8F2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2305050"/>
            <a:ext cx="228600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2DD4BF"/>
                </a:solidFill>
                <a:latin typeface="PingFang SC"/>
                <a:ea typeface="PingFang SC"/>
                <a:cs typeface="PingFang SC"/>
              </a:defRPr>
            </a:pPr>
            <a:r>
              <a:t>输出字段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0DB3ED35-29C7-4050-96D9-3D645C4D6A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0" y="2781300"/>
            <a:ext cx="2667000" cy="342900"/>
          </a:xfrm>
          <a:prstGeom xmlns:a="http://schemas.openxmlformats.org/drawingml/2006/main" prst="roundRect">
            <a:avLst>
              <a:gd name="adj" fmla="val 19444"/>
            </a:avLst>
          </a:prstGeom>
          <a:solidFill xmlns:a="http://schemas.openxmlformats.org/drawingml/2006/main">
            <a:srgbClr val="0B1E2B"/>
          </a:solidFill>
          <a:ln xmlns:a="http://schemas.openxmlformats.org/drawingml/2006/main" w="0">
            <a:solidFill>
              <a:srgbClr val="0B1E2B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037AD346-6737-407C-83A3-A0A578262B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39200" y="2857500"/>
            <a:ext cx="236220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F2B84B"/>
                </a:solidFill>
                <a:latin typeface="Menlo"/>
                <a:ea typeface="Menlo"/>
                <a:cs typeface="Menlo"/>
              </a:defRPr>
            </a:pPr>
            <a:r>
              <a:t>"score" / "confidence"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0F4361CA-12B3-4E70-838A-184A5A1CCC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0" y="3200400"/>
            <a:ext cx="2667000" cy="342900"/>
          </a:xfrm>
          <a:prstGeom xmlns:a="http://schemas.openxmlformats.org/drawingml/2006/main" prst="roundRect">
            <a:avLst>
              <a:gd name="adj" fmla="val 19444"/>
            </a:avLst>
          </a:prstGeom>
          <a:solidFill xmlns:a="http://schemas.openxmlformats.org/drawingml/2006/main">
            <a:srgbClr val="0B1E2B"/>
          </a:solidFill>
          <a:ln xmlns:a="http://schemas.openxmlformats.org/drawingml/2006/main" w="0">
            <a:solidFill>
              <a:srgbClr val="0B1E2B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1A1BD2BD-E503-42B1-B87A-39BBF2FB58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39200" y="3276600"/>
            <a:ext cx="236220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F5F1E8"/>
                </a:solidFill>
                <a:latin typeface="Menlo"/>
                <a:ea typeface="Menlo"/>
                <a:cs typeface="Menlo"/>
              </a:defRPr>
            </a:pPr>
            <a:r>
              <a:t>"strengths" / "warnings"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26BCB370-704F-4BCD-A92B-8C8F1427F9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0" y="3619500"/>
            <a:ext cx="2667000" cy="342900"/>
          </a:xfrm>
          <a:prstGeom xmlns:a="http://schemas.openxmlformats.org/drawingml/2006/main" prst="roundRect">
            <a:avLst>
              <a:gd name="adj" fmla="val 19444"/>
            </a:avLst>
          </a:prstGeom>
          <a:solidFill xmlns:a="http://schemas.openxmlformats.org/drawingml/2006/main">
            <a:srgbClr val="0B1E2B"/>
          </a:solidFill>
          <a:ln xmlns:a="http://schemas.openxmlformats.org/drawingml/2006/main" w="0">
            <a:solidFill>
              <a:srgbClr val="0B1E2B"/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38BA8437-8540-4A96-8F20-4E9A48EEAE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39200" y="3695700"/>
            <a:ext cx="236220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2DD4BF"/>
                </a:solidFill>
                <a:latin typeface="Menlo"/>
                <a:ea typeface="Menlo"/>
                <a:cs typeface="Menlo"/>
              </a:defRPr>
            </a:pPr>
            <a:r>
              <a:t>"recommendations"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A88B2D75-6F31-4373-8EBA-7A83748FE1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0" y="4038600"/>
            <a:ext cx="2667000" cy="342900"/>
          </a:xfrm>
          <a:prstGeom xmlns:a="http://schemas.openxmlformats.org/drawingml/2006/main" prst="roundRect">
            <a:avLst>
              <a:gd name="adj" fmla="val 19444"/>
            </a:avLst>
          </a:prstGeom>
          <a:solidFill xmlns:a="http://schemas.openxmlformats.org/drawingml/2006/main">
            <a:srgbClr val="0B1E2B"/>
          </a:solidFill>
          <a:ln xmlns:a="http://schemas.openxmlformats.org/drawingml/2006/main" w="0">
            <a:solidFill>
              <a:srgbClr val="0B1E2B"/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E1FEA8AE-FF12-4F65-BCC8-131FD182AC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39200" y="4114800"/>
            <a:ext cx="236220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F5F1E8"/>
                </a:solidFill>
                <a:latin typeface="Menlo"/>
                <a:ea typeface="Menlo"/>
                <a:cs typeface="Menlo"/>
              </a:defRPr>
            </a:pPr>
            <a:r>
              <a:t>"execution_plan"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CCE584B5-A0AB-41FD-A020-987D612EA6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0" y="4457700"/>
            <a:ext cx="2667000" cy="342900"/>
          </a:xfrm>
          <a:prstGeom xmlns:a="http://schemas.openxmlformats.org/drawingml/2006/main" prst="roundRect">
            <a:avLst>
              <a:gd name="adj" fmla="val 19444"/>
            </a:avLst>
          </a:prstGeom>
          <a:solidFill xmlns:a="http://schemas.openxmlformats.org/drawingml/2006/main">
            <a:srgbClr val="0B1E2B"/>
          </a:solidFill>
          <a:ln xmlns:a="http://schemas.openxmlformats.org/drawingml/2006/main" w="0">
            <a:solidFill>
              <a:srgbClr val="0B1E2B"/>
            </a:solidFill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0ECBDA4B-5D44-4BDA-9D1A-3C5A94EE88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39200" y="4533900"/>
            <a:ext cx="236220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4C8DFF"/>
                </a:solidFill>
                <a:latin typeface="Menlo"/>
                <a:ea typeface="Menlo"/>
                <a:cs typeface="Menlo"/>
              </a:defRPr>
            </a:pPr>
            <a:r>
              <a:t>"suggested_params"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8889C7A1-9075-452B-B016-D2D2528C87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5562600"/>
            <a:ext cx="11087100" cy="457200"/>
          </a:xfrm>
          <a:prstGeom xmlns:a="http://schemas.openxmlformats.org/drawingml/2006/main" prst="roundRect">
            <a:avLst>
              <a:gd name="adj" fmla="val 20833"/>
            </a:avLst>
          </a:prstGeom>
          <a:solidFill xmlns:a="http://schemas.openxmlformats.org/drawingml/2006/main">
            <a:srgbClr val="0C1F2C"/>
          </a:solidFill>
          <a:ln xmlns:a="http://schemas.openxmlformats.org/drawingml/2006/main" w="9525">
            <a:solidFill>
              <a:srgbClr val="294554"/>
            </a:solidFill>
            <a:prstDash val="solid"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3BD0F987-F1BE-4B1D-A4A5-6EF2721452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5676900"/>
            <a:ext cx="1055370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5F1E8"/>
                </a:solidFill>
                <a:latin typeface="PingFang SC"/>
                <a:ea typeface="PingFang SC"/>
                <a:cs typeface="PingFang SC"/>
              </a:defRPr>
            </a:pPr>
            <a:r>
              <a:t>分析结果写入 ai_analyses 表，前端展示 provider、评分、风险提示、建议参数和执行计划。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591584CD-5859-40F1-84A3-38CFF6BAD1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534150"/>
            <a:ext cx="3143250" cy="152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8AA0A8"/>
                </a:solidFill>
                <a:latin typeface="Avenir Next"/>
                <a:ea typeface="Avenir Next"/>
                <a:cs typeface="Avenir Next"/>
              </a:defRPr>
            </a:pPr>
            <a:r>
              <a:t>QUANT PLATFORM / COURSE DEFENSE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6ACB8ADF-7520-42BB-94CC-45ECC5145D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6534150"/>
            <a:ext cx="6858000" cy="152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750" b="0">
                <a:solidFill>
                  <a:srgbClr val="8AA0A8"/>
                </a:solidFill>
                <a:latin typeface="PingFang SC"/>
                <a:ea typeface="PingFang SC"/>
                <a:cs typeface="PingFang SC"/>
              </a:defRPr>
            </a:pPr>
            <a:r>
              <a:t>来源：backend/app/services/ai_analysis_service.py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6348FFB2-D2E5-495A-8FF9-E86AC30698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534150"/>
            <a:ext cx="304800" cy="152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750" b="1">
                <a:solidFill>
                  <a:srgbClr val="8AA0A8"/>
                </a:solidFill>
                <a:latin typeface="Avenir Next"/>
                <a:ea typeface="Avenir Next"/>
                <a:cs typeface="Avenir Next"/>
              </a:defRPr>
            </a:pPr>
            <a:r>
              <a:t>10</a:t>
            </a:r>
          </a:p>
        </p:txBody>
      </p:sp>
    </p:spTree>
    <p:extLst>
      <p:ext uri="{BB962C8B-B14F-4D97-AF65-F5344CB8AC3E}">
        <p14:creationId xmlns:p14="http://schemas.microsoft.com/office/powerpoint/2010/main" val="1392430514"/>
      </p:ext>
    </p:extLst>
  </p:cSld>
</p:sld>
</file>

<file path=ppt/slides/slide1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slide-background">
            <a:extLst xmlns:a="http://schemas.openxmlformats.org/drawingml/2006/main">
              <a:ext uri="{FF2B5EF4-FFF2-40B4-BE49-F238E27FC236}">
                <a16:creationId xmlns:a16="http://schemas.microsoft.com/office/drawing/2014/main" id="{D918246B-FEC0-4D12-8C4C-4CF08534CA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1E8"/>
          </a:solidFill>
          <a:ln xmlns:a="http://schemas.openxmlformats.org/drawingml/2006/main" w="0">
            <a:solidFill>
              <a:srgbClr val="F5F1E8"/>
            </a:solidFill>
            <a:prstDash val="solid"/>
          </a:ln>
        </p:spPr>
      </p:sp>
      <p:sp>
        <p:nvSpPr>
          <p:cNvPr id="2" name="kicker-marker">
            <a:extLst xmlns:a="http://schemas.openxmlformats.org/drawingml/2006/main">
              <a:ext uri="{FF2B5EF4-FFF2-40B4-BE49-F238E27FC236}">
                <a16:creationId xmlns:a16="http://schemas.microsoft.com/office/drawing/2014/main" id="{EF099DAC-CE7E-4B15-A606-7DB8F1EDA8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09575"/>
            <a:ext cx="76200" cy="762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DD4BF"/>
          </a:solidFill>
          <a:ln xmlns:a="http://schemas.openxmlformats.org/drawingml/2006/main" w="0">
            <a:solidFill>
              <a:srgbClr val="2DD4BF"/>
            </a:solidFill>
            <a:prstDash val="solid"/>
          </a:ln>
        </p:spPr>
      </p:sp>
      <p:sp>
        <p:nvSpPr>
          <p:cNvPr id="3" name="kicker-label">
            <a:extLst xmlns:a="http://schemas.openxmlformats.org/drawingml/2006/main">
              <a:ext uri="{FF2B5EF4-FFF2-40B4-BE49-F238E27FC236}">
                <a16:creationId xmlns:a16="http://schemas.microsoft.com/office/drawing/2014/main" id="{2983DFD6-3664-4CCC-838D-6325994575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14325"/>
            <a:ext cx="409575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071521"/>
                </a:solidFill>
                <a:latin typeface="Avenir Next"/>
                <a:ea typeface="Avenir Next"/>
                <a:cs typeface="Avenir Next"/>
              </a:defRPr>
            </a:pPr>
            <a:r>
              <a:t>VALIDATION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966609B-4D78-4272-BA0A-8BC9BD8334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838200"/>
            <a:ext cx="8572500" cy="4762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071521"/>
                </a:solidFill>
                <a:latin typeface="PingFang SC"/>
                <a:ea typeface="PingFang SC"/>
                <a:cs typeface="PingFang SC"/>
              </a:defRPr>
            </a:pPr>
            <a:r>
              <a:t>验证结果与演示准备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42A8F2F-176D-4DB6-9876-7571520EB7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409700"/>
            <a:ext cx="9906000" cy="323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B707B"/>
                </a:solidFill>
                <a:latin typeface="PingFang SC"/>
                <a:ea typeface="PingFang SC"/>
                <a:cs typeface="PingFang SC"/>
              </a:defRPr>
            </a:pPr>
            <a:r>
              <a:t>验证内容覆盖启动脚本、数据库迁移、接口链路、回测记录、AI 分析和前端构建。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1C6979F-1ED8-4421-8D88-502AB26E95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076450"/>
            <a:ext cx="5181600" cy="3048000"/>
          </a:xfrm>
          <a:prstGeom xmlns:a="http://schemas.openxmlformats.org/drawingml/2006/main" prst="roundRect">
            <a:avLst>
              <a:gd name="adj" fmla="val 5625"/>
            </a:avLst>
          </a:prstGeom>
          <a:solidFill xmlns:a="http://schemas.openxmlformats.org/drawingml/2006/main">
            <a:srgbClr val="071521"/>
          </a:solidFill>
          <a:ln xmlns:a="http://schemas.openxmlformats.org/drawingml/2006/main" w="0">
            <a:solidFill>
              <a:srgbClr val="071521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225EE53-1C84-48FC-A27A-3D952E576E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343150"/>
            <a:ext cx="20955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2DD4BF"/>
                </a:solidFill>
                <a:latin typeface="PingFang SC"/>
                <a:ea typeface="PingFang SC"/>
                <a:cs typeface="PingFang SC"/>
              </a:defRPr>
            </a:pPr>
            <a:r>
              <a:t>演示启动流程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5DCE456-7CF3-4558-AEC6-869BAC36F5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914650"/>
            <a:ext cx="4191000" cy="247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F5F1E8"/>
                </a:solidFill>
                <a:latin typeface="Menlo"/>
                <a:ea typeface="Menlo"/>
                <a:cs typeface="Menlo"/>
              </a:defRPr>
            </a:pPr>
            <a:r>
              <a:t>$ ./scripts/demo.sh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741E7CD-CB35-4131-A43E-9314202514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238500"/>
            <a:ext cx="4191000" cy="247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F5F1E8"/>
                </a:solidFill>
                <a:latin typeface="Menlo"/>
                <a:ea typeface="Menlo"/>
                <a:cs typeface="Menlo"/>
              </a:defRPr>
            </a:pPr>
            <a:r>
              <a:t>$ ./scripts/check_demo.sh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B842B82-245F-4813-9112-F98D581185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752850"/>
            <a:ext cx="4191000" cy="247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F5F1E8"/>
                </a:solidFill>
                <a:latin typeface="Menlo"/>
                <a:ea typeface="Menlo"/>
                <a:cs typeface="Menlo"/>
              </a:defRPr>
            </a:pPr>
            <a:r>
              <a:t>访问：http://127.0.0.1:5173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72A17B9-5BD4-4BEC-85B8-7FFF8187AC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324350"/>
            <a:ext cx="434340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102838"/>
          </a:solidFill>
          <a:ln xmlns:a="http://schemas.openxmlformats.org/drawingml/2006/main" w="0">
            <a:solidFill>
              <a:srgbClr val="102838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21BA968-DC7B-4B22-AD7E-E67F6CE97F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4419600"/>
            <a:ext cx="400050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>
            <a:normAutofit fontScale="99011"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F2B84B"/>
                </a:solidFill>
                <a:latin typeface="PingFang SC"/>
                <a:ea typeface="PingFang SC"/>
                <a:cs typeface="PingFang SC"/>
              </a:defRPr>
            </a:pPr>
            <a:r>
              <a:t>建议保留历史成功回测与 AI 分析记录，现场新任务用于展示流程。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B322478-06A2-4887-BAC1-FB763825F2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15050" y="2076450"/>
            <a:ext cx="5524500" cy="3048000"/>
          </a:xfrm>
          <a:prstGeom xmlns:a="http://schemas.openxmlformats.org/drawingml/2006/main" prst="roundRect">
            <a:avLst>
              <a:gd name="adj" fmla="val 562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E1DE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F7AE5CA-10F1-4210-9782-DDF10DDB41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2343150"/>
            <a:ext cx="20955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071521"/>
                </a:solidFill>
                <a:latin typeface="PingFang SC"/>
                <a:ea typeface="PingFang SC"/>
                <a:cs typeface="PingFang SC"/>
              </a:defRPr>
            </a:pPr>
            <a:r>
              <a:t>当前演示数据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3A4B377-D375-4A3A-AAA4-77D436C71F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2895600"/>
            <a:ext cx="1428750" cy="4191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2DD4BF"/>
                </a:solidFill>
                <a:latin typeface="Avenir Next"/>
                <a:ea typeface="Avenir Next"/>
                <a:cs typeface="Avenir Next"/>
              </a:defRPr>
            </a:pPr>
            <a:r>
              <a:t>3,992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018F717-EA9F-446A-AB61-A76A3BE6B2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3343275"/>
            <a:ext cx="142875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071521"/>
                </a:solidFill>
                <a:latin typeface="PingFang SC"/>
                <a:ea typeface="PingFang SC"/>
                <a:cs typeface="PingFang SC"/>
              </a:defRPr>
            </a:pPr>
            <a:r>
              <a:t>K 线记录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F1AABF6-BA1A-4F2D-BE9A-8214A91A57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2895600"/>
            <a:ext cx="1428750" cy="4191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F2B84B"/>
                </a:solidFill>
                <a:latin typeface="Avenir Next"/>
                <a:ea typeface="Avenir Next"/>
                <a:cs typeface="Avenir Next"/>
              </a:defRPr>
            </a:pPr>
            <a:r>
              <a:t>33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B6AD892-CB6B-449F-B832-2D3FAB3957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3343275"/>
            <a:ext cx="142875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071521"/>
                </a:solidFill>
                <a:latin typeface="PingFang SC"/>
                <a:ea typeface="PingFang SC"/>
                <a:cs typeface="PingFang SC"/>
              </a:defRPr>
            </a:pPr>
            <a:r>
              <a:t>回测记录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02121B21-B379-401E-86AA-1F5B788E5B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0" y="2895600"/>
            <a:ext cx="1333500" cy="4191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4C8DFF"/>
                </a:solidFill>
                <a:latin typeface="Avenir Next"/>
                <a:ea typeface="Avenir Next"/>
                <a:cs typeface="Avenir Next"/>
              </a:defRPr>
            </a:pPr>
            <a:r>
              <a:t>10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2498BB61-AF39-42B4-B2F4-E48E963857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0" y="3343275"/>
            <a:ext cx="133350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071521"/>
                </a:solidFill>
                <a:latin typeface="PingFang SC"/>
                <a:ea typeface="PingFang SC"/>
                <a:cs typeface="PingFang SC"/>
              </a:defRPr>
            </a:pPr>
            <a:r>
              <a:t>AI 分析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D68D1186-A1F9-4645-9E21-AB8FDEAF0D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4038600"/>
            <a:ext cx="1428750" cy="4191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D75A5A"/>
                </a:solidFill>
                <a:latin typeface="Avenir Next"/>
                <a:ea typeface="Avenir Next"/>
                <a:cs typeface="Avenir Next"/>
              </a:defRPr>
            </a:pPr>
            <a:r>
              <a:t>6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2FD1710A-E662-4040-9E47-9D366FFE73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4486275"/>
            <a:ext cx="142875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071521"/>
                </a:solidFill>
                <a:latin typeface="PingFang SC"/>
                <a:ea typeface="PingFang SC"/>
                <a:cs typeface="PingFang SC"/>
              </a:defRPr>
            </a:pPr>
            <a:r>
              <a:t>异步任务记录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17F0F93C-98E6-47B1-B19C-544D4356FB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4038600"/>
            <a:ext cx="1428750" cy="4191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F2B84B"/>
                </a:solidFill>
                <a:latin typeface="Avenir Next"/>
                <a:ea typeface="Avenir Next"/>
                <a:cs typeface="Avenir Next"/>
              </a:defRPr>
            </a:pPr>
            <a:r>
              <a:t>3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4CA4047B-B1D8-4CD7-904D-7C705A0527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4486275"/>
            <a:ext cx="142875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071521"/>
                </a:solidFill>
                <a:latin typeface="PingFang SC"/>
                <a:ea typeface="PingFang SC"/>
                <a:cs typeface="PingFang SC"/>
              </a:defRPr>
            </a:pPr>
            <a:r>
              <a:t>Alembic 迁移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2BCE8973-0B9A-4AF2-BA83-87C74D7590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0" y="4038600"/>
            <a:ext cx="1333500" cy="4191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2DD4BF"/>
                </a:solidFill>
                <a:latin typeface="Avenir Next"/>
                <a:ea typeface="Avenir Next"/>
                <a:cs typeface="Avenir Next"/>
              </a:defRPr>
            </a:pPr>
            <a:r>
              <a:t>16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29D9260B-4384-413E-B463-B2DAA7A125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0" y="4486275"/>
            <a:ext cx="133350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071521"/>
                </a:solidFill>
                <a:latin typeface="PingFang SC"/>
                <a:ea typeface="PingFang SC"/>
                <a:cs typeface="PingFang SC"/>
              </a:defRPr>
            </a:pPr>
            <a:r>
              <a:t>测试用例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3396A06C-2F6C-4353-9DA0-CC9C37B480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5562600"/>
            <a:ext cx="11087100" cy="419100"/>
          </a:xfrm>
          <a:prstGeom xmlns:a="http://schemas.openxmlformats.org/drawingml/2006/main" prst="roundRect">
            <a:avLst>
              <a:gd name="adj" fmla="val 22727"/>
            </a:avLst>
          </a:prstGeom>
          <a:solidFill xmlns:a="http://schemas.openxmlformats.org/drawingml/2006/main">
            <a:srgbClr val="071521"/>
          </a:solidFill>
          <a:ln xmlns:a="http://schemas.openxmlformats.org/drawingml/2006/main" w="0">
            <a:solidFill>
              <a:srgbClr val="071521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BA269029-9B52-4981-BC16-AF3F33A72C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5667375"/>
            <a:ext cx="1055370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5F1E8"/>
                </a:solidFill>
                <a:latin typeface="PingFang SC"/>
                <a:ea typeface="PingFang SC"/>
                <a:cs typeface="PingFang SC"/>
              </a:defRPr>
            </a:pPr>
            <a:r>
              <a:t>验收方式：脚本检查 + 自动化测试 + 现场功能演示 + 历史记录兜底。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295BC6CF-1AE7-46C9-AEBA-8D935514A8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534150"/>
            <a:ext cx="3143250" cy="152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5B707B"/>
                </a:solidFill>
                <a:latin typeface="Avenir Next"/>
                <a:ea typeface="Avenir Next"/>
                <a:cs typeface="Avenir Next"/>
              </a:defRPr>
            </a:pPr>
            <a:r>
              <a:t>QUANT PLATFORM / COURSE DEFENSE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2E243081-AB9E-44CA-B69A-71FA52A077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6534150"/>
            <a:ext cx="6858000" cy="152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750" b="0">
                <a:solidFill>
                  <a:srgbClr val="5B707B"/>
                </a:solidFill>
                <a:latin typeface="PingFang SC"/>
                <a:ea typeface="PingFang SC"/>
                <a:cs typeface="PingFang SC"/>
              </a:defRPr>
            </a:pPr>
            <a:r>
              <a:t>来源：docs/demo_runbook.md / SQLite demo database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EF82FFB9-B3CD-4BC1-B2FA-00584B4870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534150"/>
            <a:ext cx="304800" cy="152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750" b="1">
                <a:solidFill>
                  <a:srgbClr val="5B707B"/>
                </a:solidFill>
                <a:latin typeface="Avenir Next"/>
                <a:ea typeface="Avenir Next"/>
                <a:cs typeface="Avenir Next"/>
              </a:defRPr>
            </a:pPr>
            <a:r>
              <a:t>11</a:t>
            </a:r>
          </a:p>
        </p:txBody>
      </p:sp>
    </p:spTree>
    <p:extLst>
      <p:ext uri="{BB962C8B-B14F-4D97-AF65-F5344CB8AC3E}">
        <p14:creationId xmlns:p14="http://schemas.microsoft.com/office/powerpoint/2010/main" val="952833575"/>
      </p:ext>
    </p:extLst>
  </p:cSld>
</p:sld>
</file>

<file path=ppt/slides/slide1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slide-background">
            <a:extLst xmlns:a="http://schemas.openxmlformats.org/drawingml/2006/main">
              <a:ext uri="{FF2B5EF4-FFF2-40B4-BE49-F238E27FC236}">
                <a16:creationId xmlns:a16="http://schemas.microsoft.com/office/drawing/2014/main" id="{EE70694A-D0EE-4413-8011-4E9E2A5D12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1E8"/>
          </a:solidFill>
          <a:ln xmlns:a="http://schemas.openxmlformats.org/drawingml/2006/main" w="0">
            <a:solidFill>
              <a:srgbClr val="F5F1E8"/>
            </a:solidFill>
            <a:prstDash val="solid"/>
          </a:ln>
        </p:spPr>
      </p:sp>
      <p:sp>
        <p:nvSpPr>
          <p:cNvPr id="2" name="kicker-marker">
            <a:extLst xmlns:a="http://schemas.openxmlformats.org/drawingml/2006/main">
              <a:ext uri="{FF2B5EF4-FFF2-40B4-BE49-F238E27FC236}">
                <a16:creationId xmlns:a16="http://schemas.microsoft.com/office/drawing/2014/main" id="{955D3CF3-3F10-47A2-A2D0-B6F59D9C33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09575"/>
            <a:ext cx="76200" cy="762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DD4BF"/>
          </a:solidFill>
          <a:ln xmlns:a="http://schemas.openxmlformats.org/drawingml/2006/main" w="0">
            <a:solidFill>
              <a:srgbClr val="2DD4BF"/>
            </a:solidFill>
            <a:prstDash val="solid"/>
          </a:ln>
        </p:spPr>
      </p:sp>
      <p:sp>
        <p:nvSpPr>
          <p:cNvPr id="3" name="kicker-label">
            <a:extLst xmlns:a="http://schemas.openxmlformats.org/drawingml/2006/main">
              <a:ext uri="{FF2B5EF4-FFF2-40B4-BE49-F238E27FC236}">
                <a16:creationId xmlns:a16="http://schemas.microsoft.com/office/drawing/2014/main" id="{7EB8ADD9-4523-49E3-9728-0FC133DB4D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14325"/>
            <a:ext cx="409575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071521"/>
                </a:solidFill>
                <a:latin typeface="Avenir Next"/>
                <a:ea typeface="Avenir Next"/>
                <a:cs typeface="Avenir Next"/>
              </a:defRPr>
            </a:pPr>
            <a:r>
              <a:t>SUMMARY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B49F7E7-CFE7-46F3-A617-8FA4C96322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838200"/>
            <a:ext cx="8572500" cy="4762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071521"/>
                </a:solidFill>
                <a:latin typeface="PingFang SC"/>
                <a:ea typeface="PingFang SC"/>
                <a:cs typeface="PingFang SC"/>
              </a:defRPr>
            </a:pPr>
            <a:r>
              <a:t>总结与展望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5C71EAE-7439-4C7C-956A-E927ED183C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409700"/>
            <a:ext cx="9906000" cy="323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B707B"/>
                </a:solidFill>
                <a:latin typeface="PingFang SC"/>
                <a:ea typeface="PingFang SC"/>
                <a:cs typeface="PingFang SC"/>
              </a:defRPr>
            </a:pPr>
            <a:r>
              <a:t>项目已经形成可演示版本，后续重点是扩大数据覆盖、增强回测可信度和提升部署安全性。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9DBC38D-1114-49D1-B3EA-0C2CCE196C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247900"/>
            <a:ext cx="3314700" cy="2552700"/>
          </a:xfrm>
          <a:prstGeom xmlns:a="http://schemas.openxmlformats.org/drawingml/2006/main" prst="roundRect">
            <a:avLst>
              <a:gd name="adj" fmla="val 597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E1DE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1EA9FB9-F247-4245-80DC-3FF63A4BAF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495550"/>
            <a:ext cx="419100" cy="571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DD4BF"/>
          </a:solidFill>
          <a:ln xmlns:a="http://schemas.openxmlformats.org/drawingml/2006/main" w="0">
            <a:solidFill>
              <a:srgbClr val="2DD4BF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F298E40-F8CF-4C38-89DC-2E68639756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800350"/>
            <a:ext cx="266700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71521"/>
                </a:solidFill>
                <a:latin typeface="PingFang SC"/>
                <a:ea typeface="PingFang SC"/>
                <a:cs typeface="PingFang SC"/>
              </a:defRPr>
            </a:pPr>
            <a:r>
              <a:t>已完成成果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32B72EB-64C7-4DF1-AA6E-2DBC3954FB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333750"/>
            <a:ext cx="272415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B707B"/>
                </a:solidFill>
                <a:latin typeface="PingFang SC"/>
                <a:ea typeface="PingFang SC"/>
                <a:cs typeface="PingFang SC"/>
              </a:defRPr>
            </a:pPr>
            <a:r>
              <a:t>• 前后端分离平台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2B2566F-19E3-4B24-B072-A9BDDEC660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676650"/>
            <a:ext cx="272415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B707B"/>
                </a:solidFill>
                <a:latin typeface="PingFang SC"/>
                <a:ea typeface="PingFang SC"/>
                <a:cs typeface="PingFang SC"/>
              </a:defRPr>
            </a:pPr>
            <a:r>
              <a:t>• 实时行情同步与存储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3D8DF50-EC5A-4EAB-AFBC-1515CE8258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019550"/>
            <a:ext cx="272415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B707B"/>
                </a:solidFill>
                <a:latin typeface="PingFang SC"/>
                <a:ea typeface="PingFang SC"/>
                <a:cs typeface="PingFang SC"/>
              </a:defRPr>
            </a:pPr>
            <a:r>
              <a:t>• 异步回测任务链路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BC4C42C-435C-4A2A-9B81-44AEACEAEE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362450"/>
            <a:ext cx="272415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B707B"/>
                </a:solidFill>
                <a:latin typeface="PingFang SC"/>
                <a:ea typeface="PingFang SC"/>
                <a:cs typeface="PingFang SC"/>
              </a:defRPr>
            </a:pPr>
            <a:r>
              <a:t>• AI 结构化分析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591AE08-5469-4D45-B78D-D45D7F9471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38650" y="2247900"/>
            <a:ext cx="3314700" cy="2552700"/>
          </a:xfrm>
          <a:prstGeom xmlns:a="http://schemas.openxmlformats.org/drawingml/2006/main" prst="roundRect">
            <a:avLst>
              <a:gd name="adj" fmla="val 597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E1DE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9AA63C6-DF18-4A84-9A17-3AFE62F8C6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6300" y="2495550"/>
            <a:ext cx="419100" cy="571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2B84B"/>
          </a:solidFill>
          <a:ln xmlns:a="http://schemas.openxmlformats.org/drawingml/2006/main" w="0">
            <a:solidFill>
              <a:srgbClr val="F2B84B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F0D87C1-BC1B-4A89-9E3B-5E3C89C6FB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6300" y="2800350"/>
            <a:ext cx="266700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71521"/>
                </a:solidFill>
                <a:latin typeface="PingFang SC"/>
                <a:ea typeface="PingFang SC"/>
                <a:cs typeface="PingFang SC"/>
              </a:defRPr>
            </a:pPr>
            <a:r>
              <a:t>技术收获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C1E4102-16DA-4157-853C-DB10C0CB60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6300" y="3333750"/>
            <a:ext cx="272415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B707B"/>
                </a:solidFill>
                <a:latin typeface="PingFang SC"/>
                <a:ea typeface="PingFang SC"/>
                <a:cs typeface="PingFang SC"/>
              </a:defRPr>
            </a:pPr>
            <a:r>
              <a:t>• 数据链路与计算链路解耦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0941C50-3530-4B99-9041-F534B9EA47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6300" y="3676650"/>
            <a:ext cx="272415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B707B"/>
                </a:solidFill>
                <a:latin typeface="PingFang SC"/>
                <a:ea typeface="PingFang SC"/>
                <a:cs typeface="PingFang SC"/>
              </a:defRPr>
            </a:pPr>
            <a:r>
              <a:t>• 任务状态可持久化跟踪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B775FFC-5342-4950-99C7-DFEFC51931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6300" y="4019550"/>
            <a:ext cx="272415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B707B"/>
                </a:solidFill>
                <a:latin typeface="PingFang SC"/>
                <a:ea typeface="PingFang SC"/>
                <a:cs typeface="PingFang SC"/>
              </a:defRPr>
            </a:pPr>
            <a:r>
              <a:t>• 回测引擎模块化实现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103EEAE8-F2D2-4358-8D2F-7D72586669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6300" y="4362450"/>
            <a:ext cx="272415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B707B"/>
                </a:solidFill>
                <a:latin typeface="PingFang SC"/>
                <a:ea typeface="PingFang SC"/>
                <a:cs typeface="PingFang SC"/>
              </a:defRPr>
            </a:pPr>
            <a:r>
              <a:t>• 大模型结果可追溯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3BC6438E-BFC0-462B-951F-1C20D14C08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24850" y="2247900"/>
            <a:ext cx="3314700" cy="2552700"/>
          </a:xfrm>
          <a:prstGeom xmlns:a="http://schemas.openxmlformats.org/drawingml/2006/main" prst="roundRect">
            <a:avLst>
              <a:gd name="adj" fmla="val 597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E1DE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A1FB20B6-449B-490F-9B8F-A9985D0346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2495550"/>
            <a:ext cx="419100" cy="571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4C8DFF"/>
          </a:solidFill>
          <a:ln xmlns:a="http://schemas.openxmlformats.org/drawingml/2006/main" w="0">
            <a:solidFill>
              <a:srgbClr val="4C8DFF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932D57F3-A64D-4D3A-AF9A-A2DC7023B1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2800350"/>
            <a:ext cx="266700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71521"/>
                </a:solidFill>
                <a:latin typeface="PingFang SC"/>
                <a:ea typeface="PingFang SC"/>
                <a:cs typeface="PingFang SC"/>
              </a:defRPr>
            </a:pPr>
            <a:r>
              <a:t>后续方向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15073A90-29D8-4035-803B-86D1830595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3333750"/>
            <a:ext cx="272415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B707B"/>
                </a:solidFill>
                <a:latin typeface="PingFang SC"/>
                <a:ea typeface="PingFang SC"/>
                <a:cs typeface="PingFang SC"/>
              </a:defRPr>
            </a:pPr>
            <a:r>
              <a:t>• 引入样本外与走步验证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9797CC4C-72C3-4D12-9BBA-AEAD44EC8B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3676650"/>
            <a:ext cx="272415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B707B"/>
                </a:solidFill>
                <a:latin typeface="PingFang SC"/>
                <a:ea typeface="PingFang SC"/>
                <a:cs typeface="PingFang SC"/>
              </a:defRPr>
            </a:pPr>
            <a:r>
              <a:t>• 自定义策略沙箱隔离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FAF4ABBB-A8E2-4574-B8E5-3BABFBFF4A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4019550"/>
            <a:ext cx="272415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B707B"/>
                </a:solidFill>
                <a:latin typeface="PingFang SC"/>
                <a:ea typeface="PingFang SC"/>
                <a:cs typeface="PingFang SC"/>
              </a:defRPr>
            </a:pPr>
            <a:r>
              <a:t>• 独立 Worker 与调度器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DEC10CFA-92F2-42B2-92AE-49BCC17B11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4362450"/>
            <a:ext cx="272415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B707B"/>
                </a:solidFill>
                <a:latin typeface="PingFang SC"/>
                <a:ea typeface="PingFang SC"/>
                <a:cs typeface="PingFang SC"/>
              </a:defRPr>
            </a:pPr>
            <a:r>
              <a:t>• 扩展更多市场与策略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BD108AF6-2D29-4E38-84DA-4BA3ACB5FD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5467350"/>
            <a:ext cx="11087100" cy="533400"/>
          </a:xfrm>
          <a:prstGeom xmlns:a="http://schemas.openxmlformats.org/drawingml/2006/main" prst="roundRect">
            <a:avLst>
              <a:gd name="adj" fmla="val 21429"/>
            </a:avLst>
          </a:prstGeom>
          <a:solidFill xmlns:a="http://schemas.openxmlformats.org/drawingml/2006/main">
            <a:srgbClr val="071521"/>
          </a:solidFill>
          <a:ln xmlns:a="http://schemas.openxmlformats.org/drawingml/2006/main" w="0">
            <a:solidFill>
              <a:srgbClr val="071521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BF265CA1-4A24-4455-AD50-24EA1A29A6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5600700"/>
            <a:ext cx="105537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F5F1E8"/>
                </a:solidFill>
                <a:latin typeface="PingFang SC"/>
                <a:ea typeface="PingFang SC"/>
                <a:cs typeface="PingFang SC"/>
              </a:defRPr>
            </a:pPr>
            <a:r>
              <a:t>课程结项展示建议：先讲平台结构，再用一条回测和一次 AI 分析完成现场闭环。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BBE3D341-FC87-4C4A-B3EC-B2BD363891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534150"/>
            <a:ext cx="3143250" cy="152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5B707B"/>
                </a:solidFill>
                <a:latin typeface="Avenir Next"/>
                <a:ea typeface="Avenir Next"/>
                <a:cs typeface="Avenir Next"/>
              </a:defRPr>
            </a:pPr>
            <a:r>
              <a:t>QUANT PLATFORM / COURSE DEFENSE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BA235797-CF9B-4AAD-9AD4-98D8008063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6534150"/>
            <a:ext cx="6858000" cy="152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750" b="0">
                <a:solidFill>
                  <a:srgbClr val="5B707B"/>
                </a:solidFill>
                <a:latin typeface="PingFang SC"/>
                <a:ea typeface="PingFang SC"/>
                <a:cs typeface="PingFang SC"/>
              </a:defRPr>
            </a:pPr>
            <a:r>
              <a:t>THANK YOU / Q&amp;A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390CB2F7-4239-497B-9C8F-8422EDB914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534150"/>
            <a:ext cx="304800" cy="152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750" b="1">
                <a:solidFill>
                  <a:srgbClr val="5B707B"/>
                </a:solidFill>
                <a:latin typeface="Avenir Next"/>
                <a:ea typeface="Avenir Next"/>
                <a:cs typeface="Avenir Next"/>
              </a:defRPr>
            </a:pPr>
            <a:r>
              <a:t>12</a:t>
            </a:r>
          </a:p>
        </p:txBody>
      </p:sp>
    </p:spTree>
    <p:extLst>
      <p:ext uri="{BB962C8B-B14F-4D97-AF65-F5344CB8AC3E}">
        <p14:creationId xmlns:p14="http://schemas.microsoft.com/office/powerpoint/2010/main" val="605975964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2026-06-18T03:08:37.5220000Z</dcterms:created>
  <dcterms:modified xsi:type="dcterms:W3CDTF">2026-06-18T03:08:37.5220000Z</dcterms:modified>
</coreProperties>
</file>