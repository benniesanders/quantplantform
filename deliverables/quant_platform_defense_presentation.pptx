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8c4c0ccf6c4008" /><Relationship Type="http://schemas.openxmlformats.org/officeDocument/2006/relationships/extended-properties" Target="/docProps/app.xml" Id="Rcfd5ee07a5284a21" /><Relationship Type="http://schemas.openxmlformats.org/officeDocument/2006/relationships/officeDocument" Target="/ppt/presentation.xml" Id="R04e4e8619691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007a782e014fd6"/>
  </p:sldMasterIdLst>
  <p:notesMasterIdLst>
    <p:notesMasterId xmlns:r="http://schemas.openxmlformats.org/officeDocument/2006/relationships" r:id="R994bb03e549448d6"/>
  </p:notesMasterIdLst>
  <p:sldIdLst>
    <p:sldId xmlns:r="http://schemas.openxmlformats.org/officeDocument/2006/relationships" id="256" r:id="Rd817ac4b14bc4735"/>
    <p:sldId xmlns:r="http://schemas.openxmlformats.org/officeDocument/2006/relationships" id="257" r:id="R57ac55c4648f49e4"/>
    <p:sldId xmlns:r="http://schemas.openxmlformats.org/officeDocument/2006/relationships" id="258" r:id="R6bee12725e8c4cbf"/>
    <p:sldId xmlns:r="http://schemas.openxmlformats.org/officeDocument/2006/relationships" id="259" r:id="R3bb1b4071c7f4049"/>
    <p:sldId xmlns:r="http://schemas.openxmlformats.org/officeDocument/2006/relationships" id="260" r:id="R2175b6b561d14195"/>
    <p:sldId xmlns:r="http://schemas.openxmlformats.org/officeDocument/2006/relationships" id="261" r:id="R153fdcafec1e44c8"/>
    <p:sldId xmlns:r="http://schemas.openxmlformats.org/officeDocument/2006/relationships" id="262" r:id="Rf18658882f60401f"/>
    <p:sldId xmlns:r="http://schemas.openxmlformats.org/officeDocument/2006/relationships" id="263" r:id="R9fb3397273ad419d"/>
    <p:sldId xmlns:r="http://schemas.openxmlformats.org/officeDocument/2006/relationships" id="264" r:id="Ree14da3d97c14473"/>
    <p:sldId xmlns:r="http://schemas.openxmlformats.org/officeDocument/2006/relationships" id="265" r:id="R5b30a66778c94b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73d9603a7492a" /><Relationship Type="http://schemas.openxmlformats.org/officeDocument/2006/relationships/slideMaster" Target="/ppt/slideMasters/slideMaster1.xml" Id="R32007a782e014fd6" /><Relationship Type="http://schemas.openxmlformats.org/officeDocument/2006/relationships/notesMaster" Target="/ppt/notesMasters/notesMaster1.xml" Id="R994bb03e549448d6" /><Relationship Type="http://schemas.openxmlformats.org/officeDocument/2006/relationships/presProps" Target="/ppt/presProps.xml" Id="Ra1d040e0235d44fa" /><Relationship Type="http://schemas.openxmlformats.org/officeDocument/2006/relationships/viewProps" Target="/ppt/viewProps.xml" Id="Rc6e29b046adb43a7" /><Relationship Type="http://schemas.openxmlformats.org/officeDocument/2006/relationships/tableStyles" Target="/ppt/tableStyles.xml" Id="Re625dad7e6f04394" /><Relationship Type="http://schemas.openxmlformats.org/officeDocument/2006/relationships/slide" Target="/ppt/slides/slide1.xml" Id="Rd817ac4b14bc4735" /><Relationship Type="http://schemas.openxmlformats.org/officeDocument/2006/relationships/slide" Target="/ppt/slides/slide2.xml" Id="R57ac55c4648f49e4" /><Relationship Type="http://schemas.openxmlformats.org/officeDocument/2006/relationships/slide" Target="/ppt/slides/slide3.xml" Id="R6bee12725e8c4cbf" /><Relationship Type="http://schemas.openxmlformats.org/officeDocument/2006/relationships/slide" Target="/ppt/slides/slide4.xml" Id="R3bb1b4071c7f4049" /><Relationship Type="http://schemas.openxmlformats.org/officeDocument/2006/relationships/slide" Target="/ppt/slides/slide5.xml" Id="R2175b6b561d14195" /><Relationship Type="http://schemas.openxmlformats.org/officeDocument/2006/relationships/slide" Target="/ppt/slides/slide6.xml" Id="R153fdcafec1e44c8" /><Relationship Type="http://schemas.openxmlformats.org/officeDocument/2006/relationships/slide" Target="/ppt/slides/slide7.xml" Id="Rf18658882f60401f" /><Relationship Type="http://schemas.openxmlformats.org/officeDocument/2006/relationships/slide" Target="/ppt/slides/slide8.xml" Id="R9fb3397273ad419d" /><Relationship Type="http://schemas.openxmlformats.org/officeDocument/2006/relationships/slide" Target="/ppt/slides/slide9.xml" Id="Ree14da3d97c14473" /><Relationship Type="http://schemas.openxmlformats.org/officeDocument/2006/relationships/slide" Target="/ppt/slides/slide10.xml" Id="R5b30a66778c9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faa792fc6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7507e7b1ef4415" /><Relationship Type="http://schemas.openxmlformats.org/officeDocument/2006/relationships/notesMaster" Target="/ppt/notesMasters/notesMaster1.xml" Id="Raa2eb3e124d045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ec3b6e77e24a77" /><Relationship Type="http://schemas.openxmlformats.org/officeDocument/2006/relationships/notesMaster" Target="/ppt/notesMasters/notesMaster1.xml" Id="Rc2270e8b719e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8187335c8340bb" /><Relationship Type="http://schemas.openxmlformats.org/officeDocument/2006/relationships/notesMaster" Target="/ppt/notesMasters/notesMaster1.xml" Id="R86d7a3e3e0064d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e9355ed9da442d" /><Relationship Type="http://schemas.openxmlformats.org/officeDocument/2006/relationships/notesMaster" Target="/ppt/notesMasters/notesMaster1.xml" Id="R2310a411757543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f1aef0f584749" /><Relationship Type="http://schemas.openxmlformats.org/officeDocument/2006/relationships/notesMaster" Target="/ppt/notesMasters/notesMaster1.xml" Id="Ra6cfccbd04fb4a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113c87b2b849db" /><Relationship Type="http://schemas.openxmlformats.org/officeDocument/2006/relationships/notesMaster" Target="/ppt/notesMasters/notesMaster1.xml" Id="Ref61acbfa74f41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389c7de0c646f9" /><Relationship Type="http://schemas.openxmlformats.org/officeDocument/2006/relationships/notesMaster" Target="/ppt/notesMasters/notesMaster1.xml" Id="Rb725933e85214b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7fcf81d7b44301" /><Relationship Type="http://schemas.openxmlformats.org/officeDocument/2006/relationships/notesMaster" Target="/ppt/notesMasters/notesMaster1.xml" Id="R6624b7a551b543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97d3ee250749bf" /><Relationship Type="http://schemas.openxmlformats.org/officeDocument/2006/relationships/notesMaster" Target="/ppt/notesMasters/notesMaster1.xml" Id="R5444c831261e40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43961f5fdc4d57" /><Relationship Type="http://schemas.openxmlformats.org/officeDocument/2006/relationships/notesMaster" Target="/ppt/notesMasters/notesMaster1.xml" Id="R0dc6aafbc43440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5a3aba10641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b926747cf54ccd" /><Relationship Type="http://schemas.openxmlformats.org/officeDocument/2006/relationships/slideLayout" Target="/ppt/slideLayouts/slideLayout1.xml" Id="R6546446e9721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6446e9721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63d5af4ca446f" /><Relationship Type="http://schemas.openxmlformats.org/officeDocument/2006/relationships/notesSlide" Target="/ppt/notesSlides/notesSlide1.xml" Id="Raa0c9bbcdffd41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ef35e76b74921" /><Relationship Type="http://schemas.openxmlformats.org/officeDocument/2006/relationships/notesSlide" Target="/ppt/notesSlides/notesSlide2.xml" Id="R53f7018644eb40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abdbc027d4096" /><Relationship Type="http://schemas.openxmlformats.org/officeDocument/2006/relationships/notesSlide" Target="/ppt/notesSlides/notesSlide3.xml" Id="R70b1283d748a4e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93662c5c4388" /><Relationship Type="http://schemas.openxmlformats.org/officeDocument/2006/relationships/notesSlide" Target="/ppt/notesSlides/notesSlide4.xml" Id="R4072220b2d04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f0d0d21a24596" /><Relationship Type="http://schemas.openxmlformats.org/officeDocument/2006/relationships/notesSlide" Target="/ppt/notesSlides/notesSlide5.xml" Id="Rd26a1d83230c4a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b3936042c40fd" /><Relationship Type="http://schemas.openxmlformats.org/officeDocument/2006/relationships/notesSlide" Target="/ppt/notesSlides/notesSlide6.xml" Id="R857ebc6b83664e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ee56beb624974" /><Relationship Type="http://schemas.openxmlformats.org/officeDocument/2006/relationships/notesSlide" Target="/ppt/notesSlides/notesSlide7.xml" Id="R8b7eeac3abc4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885c745754c7c" /><Relationship Type="http://schemas.openxmlformats.org/officeDocument/2006/relationships/notesSlide" Target="/ppt/notesSlides/notesSlide8.xml" Id="R4933e9e6317745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2223b2a9843b3" /><Relationship Type="http://schemas.openxmlformats.org/officeDocument/2006/relationships/notesSlide" Target="/ppt/notesSlides/notesSlide9.xml" Id="Rdde97e1f758c4e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7c7f940314b8e" /><Relationship Type="http://schemas.openxmlformats.org/officeDocument/2006/relationships/notesSlide" Target="/ppt/notesSlides/notesSlide10.xml" Id="R10959b0b261249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D7EDF8D-8CDA-422A-B994-4BBC4CC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accent-spine">
            <a:extLst xmlns:a="http://schemas.openxmlformats.org/drawingml/2006/main">
              <a:ext uri="{FF2B5EF4-FFF2-40B4-BE49-F238E27FC236}">
                <a16:creationId xmlns:a16="http://schemas.microsoft.com/office/drawing/2014/main" id="{0F036469-5303-4831-A753-47C46C91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E3701-8AFB-455A-BED6-7F1FCD7F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QUANT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2E007-82DD-41EB-B6AC-6C69DF02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858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量化研究不应止于</a:t>
            </a:r>
          </a:p>
          <a:p xmlns:a="http://schemas.openxmlformats.org/drawingml/2006/main">
            <a:pPr algn="l">
              <a:defRPr sz="46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一段回测脚本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FF38D-64B8-4173-808B-54367EB8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191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BC2"/>
                </a:solidFill>
                <a:latin typeface="PingFang SC"/>
                <a:ea typeface="PingFang SC"/>
                <a:cs typeface="PingFang SC"/>
              </a:defRPr>
            </a:pPr>
            <a:r>
              <a:t>从实时 K 线、可复现回测到大模型诊断，</a:t>
            </a:r>
          </a:p>
          <a:p xmlns:a="http://schemas.openxmlformats.org/drawingml/2006/main">
            <a:pPr algn="l">
              <a:defRPr sz="1650" b="0">
                <a:solidFill>
                  <a:srgbClr val="A9BBC2"/>
                </a:solidFill>
                <a:latin typeface="PingFang SC"/>
                <a:ea typeface="PingFang SC"/>
                <a:cs typeface="PingFang SC"/>
              </a:defRPr>
            </a:pPr>
            <a:r>
              <a:t>形成可演示、可验证、可继续迭代的研究闭环。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D0330-5457-43C3-BBE6-F59F19CC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05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55"/>
          </a:solidFill>
          <a:ln xmlns:a="http://schemas.openxmlformats.org/drawingml/2006/main" w="0">
            <a:solidFill>
              <a:srgbClr val="2845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C8E4E-6BB3-4581-B7B9-F86C69C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课程项目结项答辩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59D30-D00E-4E9D-B1CB-FD9E453E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2026.06.15</a:t>
            </a:r>
          </a:p>
        </p:txBody>
      </p:sp>
      <p:sp>
        <p:nvSpPr>
          <p:cNvPr id="9" name="metric-rail">
            <a:extLst xmlns:a="http://schemas.openxmlformats.org/drawingml/2006/main">
              <a:ext uri="{FF2B5EF4-FFF2-40B4-BE49-F238E27FC236}">
                <a16:creationId xmlns:a16="http://schemas.microsoft.com/office/drawing/2014/main" id="{309D77DA-FB95-4795-A612-847154EB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7DF9A-82CD-4342-AEDF-3F69D9D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RUNNING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08A44-D45A-4DC1-A8EB-9761DF54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001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2709A-7A1A-4C28-BE3F-B91D6057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回测记录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D8DA2-77F4-428F-9A38-2A540D0C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AE"/>
                </a:solidFill>
                <a:latin typeface="PingFang SC"/>
                <a:ea typeface="PingFang SC"/>
                <a:cs typeface="PingFang SC"/>
              </a:defRPr>
            </a:pPr>
            <a:r>
              <a:t>多周期、时间段与资金规模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C8BDF-A5DE-479F-B4F4-15A4D969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3F391-7D79-480F-8961-C0FAC876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3,992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53D5D-ACE8-4722-91DD-1A71F54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K 线入库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FD9AD-B32D-4B08-AC01-3DFD75F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AE"/>
                </a:solidFill>
                <a:latin typeface="PingFang SC"/>
                <a:ea typeface="PingFang SC"/>
                <a:cs typeface="PingFang SC"/>
              </a:defRPr>
            </a:pPr>
            <a:r>
              <a:t>最新记录：2026-06-15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CEB54-675F-4906-84A9-5D1A529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0C629-FB65-4C62-BFD1-3CD4347B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05E81-A01C-4444-87F3-0875C4AD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F6F94-7FD8-401B-8926-6CA58422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AE"/>
                </a:solidFill>
                <a:latin typeface="PingFang SC"/>
                <a:ea typeface="PingFang SC"/>
                <a:cs typeface="PingFang SC"/>
              </a:defRPr>
            </a:pPr>
            <a:r>
              <a:t>Gemini / OpenAI / Local 可切换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CA444-20C6-40DC-AC83-DA39C897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816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BB05A-A9C0-4BD1-87CB-29D93BF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2476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9C6BE-9C86-454A-A4A2-71D3C085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15025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后端测试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E1056-31B4-402B-94B3-BD34491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722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AE"/>
                </a:solidFill>
                <a:latin typeface="PingFang SC"/>
                <a:ea typeface="PingFang SC"/>
                <a:cs typeface="PingFang SC"/>
              </a:defRPr>
            </a:pPr>
            <a:r>
              <a:t>前端生产构建通过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CE0DA-2284-4646-A6D2-6F798DE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018E8-0295-4192-A6A7-26D6BF6E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56095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B551D69-0657-4F37-BD14-3E0FABB6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CFF5F0-BF3F-455B-ACF6-93B97411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2FB893-DBB6-4F5D-B412-C5769DF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PROJECT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00D18-7E1B-4867-AE81-96581097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交付物不是几张孤立页面，</a:t>
            </a:r>
          </a:p>
          <a:p xmlns:a="http://schemas.openxmlformats.org/drawingml/2006/main">
            <a:pPr algn="l">
              <a:defRPr sz="31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而是一条完整的研究闭环。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7D315-3400-4ABA-BEDB-3939E98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课程演示聚焦加密货币现货研究；期货双向与美股已明确移出本期范围。</a:t>
            </a:r>
          </a:p>
        </p:txBody>
      </p:sp>
      <p:sp>
        <p:nvSpPr>
          <p:cNvPr id="6" name="fragmented-workflow">
            <a:extLst xmlns:a="http://schemas.openxmlformats.org/drawingml/2006/main">
              <a:ext uri="{FF2B5EF4-FFF2-40B4-BE49-F238E27FC236}">
                <a16:creationId xmlns:a16="http://schemas.microsoft.com/office/drawing/2014/main" id="{C79BE91B-3E39-4154-8D90-B4BB43AC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3053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ED0B9-EC2A-41B7-A763-D4EAC42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过去：工具碎片化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0B76A-8B1E-4697-BAE2-DC961F59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652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3A1E5-6ACD-4C0C-BF2F-583B199C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838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行情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9CAE8-C873-4905-936A-9497F44E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861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652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F73AF-F3C7-4207-9EAC-F470CA5D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838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CBC37-F175-4445-ABEB-4F0A1639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861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652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64335-C870-454A-9925-EF7A7C68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62350"/>
            <a:ext cx="838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31982-0F29-466C-8669-6046D7E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260"/>
          </a:solidFill>
          <a:ln xmlns:a="http://schemas.openxmlformats.org/drawingml/2006/main" w="0">
            <a:solidFill>
              <a:srgbClr val="3652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DD11B-3086-4954-97EB-3B13F4A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0B8"/>
                </a:solidFill>
                <a:latin typeface="PingFang SC"/>
                <a:ea typeface="PingFang SC"/>
                <a:cs typeface="PingFang SC"/>
              </a:defRPr>
            </a:pPr>
            <a:r>
              <a:t>数据来源难确认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425C2-6194-48F0-AD8F-46C7AB4F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0B8"/>
                </a:solidFill>
                <a:latin typeface="PingFang SC"/>
                <a:ea typeface="PingFang SC"/>
                <a:cs typeface="PingFang SC"/>
              </a:defRPr>
            </a:pPr>
            <a:r>
              <a:t>参数与结果难复现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7881D-9B6A-4DB3-A480-63C3043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0B8"/>
                </a:solidFill>
                <a:latin typeface="PingFang SC"/>
                <a:ea typeface="PingFang SC"/>
                <a:cs typeface="PingFang SC"/>
              </a:defRPr>
            </a:pPr>
            <a:r>
              <a:t>调整依赖人工解释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14649-4FE8-461A-9BF7-FE396A20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现在：平台内闭环</a:t>
            </a:r>
          </a:p>
        </p:txBody>
      </p:sp>
      <p:sp>
        <p:nvSpPr>
          <p:cNvPr id="19" name="observe-node">
            <a:extLst xmlns:a="http://schemas.openxmlformats.org/drawingml/2006/main">
              <a:ext uri="{FF2B5EF4-FFF2-40B4-BE49-F238E27FC236}">
                <a16:creationId xmlns:a16="http://schemas.microsoft.com/office/drawing/2014/main" id="{106A4A6C-87DC-44B8-9B92-D0ABBEDB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1428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DEC5E-E04E-401C-899B-ED8754E2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观察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F1B98-6414-423A-8904-ADB2929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当前 K 线</a:t>
            </a:r>
          </a:p>
        </p:txBody>
      </p:sp>
      <p:sp>
        <p:nvSpPr>
          <p:cNvPr id="22" name="backtest-node">
            <a:extLst xmlns:a="http://schemas.openxmlformats.org/drawingml/2006/main">
              <a:ext uri="{FF2B5EF4-FFF2-40B4-BE49-F238E27FC236}">
                <a16:creationId xmlns:a16="http://schemas.microsoft.com/office/drawing/2014/main" id="{EE066FA8-A708-4E64-95C6-BE1DEEF8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1428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E9DE8-E6BE-4CFD-9D55-E0E1878D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回测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5F8C3-110C-4744-9C10-562185EF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策略与资金</a:t>
            </a:r>
          </a:p>
        </p:txBody>
      </p:sp>
      <p:sp>
        <p:nvSpPr>
          <p:cNvPr id="25" name="ai-node">
            <a:extLst xmlns:a="http://schemas.openxmlformats.org/drawingml/2006/main">
              <a:ext uri="{FF2B5EF4-FFF2-40B4-BE49-F238E27FC236}">
                <a16:creationId xmlns:a16="http://schemas.microsoft.com/office/drawing/2014/main" id="{CF9ECDB1-295A-4363-A438-2E91D26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1428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532C1-36A7-4753-8328-208C628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AI 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A30C0-031A-4FB4-9C4C-0A3B68EE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证据与建议</a:t>
            </a:r>
          </a:p>
        </p:txBody>
      </p:sp>
      <p:sp>
        <p:nvSpPr>
          <p:cNvPr id="28" name="iterate-node">
            <a:extLst xmlns:a="http://schemas.openxmlformats.org/drawingml/2006/main">
              <a:ext uri="{FF2B5EF4-FFF2-40B4-BE49-F238E27FC236}">
                <a16:creationId xmlns:a16="http://schemas.microsoft.com/office/drawing/2014/main" id="{6A435647-89D5-4C09-B8E8-8CA01A59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1428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5970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3E956-6B1F-4419-B236-EBAE56D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迭代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A365E-9874-4B0E-9041-8D832AAB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周期与参数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1BADE9-3C24-4C39-8E54-F8BAF047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6712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B80FA-EF5D-4969-B4F0-8B41777D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86250"/>
            <a:ext cx="38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482B8B-838C-43AE-89F4-CCBC3B9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0537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8D79F1-D33E-4ECA-8906-06873B0E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86250"/>
            <a:ext cx="38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↑</a:t>
            </a:r>
          </a:p>
        </p:txBody>
      </p:sp>
      <p:sp>
        <p:nvSpPr>
          <p:cNvPr id="35" name="scope-band">
            <a:extLst xmlns:a="http://schemas.openxmlformats.org/drawingml/2006/main">
              <a:ext uri="{FF2B5EF4-FFF2-40B4-BE49-F238E27FC236}">
                <a16:creationId xmlns:a16="http://schemas.microsoft.com/office/drawing/2014/main" id="{A058653A-95D0-4A87-BDD1-2597E7EE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809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A4465E-F3D9-42C3-BFDB-B6511530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146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本期范围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2A698B-8C11-481B-B2D5-DCBBF605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29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加密货币</a:t>
            </a:r>
          </a:p>
          <a:p xmlns:a="http://schemas.openxmlformats.org/drawingml/2006/main">
            <a:pPr algn="l">
              <a:defRPr sz="20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现货研究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7C8863-91A1-424B-8B63-2B70902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57675"/>
            <a:ext cx="129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5D7E73-5D67-43A8-BD8A-9D9C717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958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5A5A"/>
                </a:solidFill>
                <a:latin typeface="PingFang SC"/>
                <a:ea typeface="PingFang SC"/>
                <a:cs typeface="PingFang SC"/>
              </a:defRPr>
            </a:pPr>
            <a:r>
              <a:t>不做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71D30A-A669-4FCB-8985-18367DBD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62500"/>
            <a:ext cx="129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期货双向</a:t>
            </a:r>
          </a:p>
          <a:p xmlns:a="http://schemas.openxmlformats.org/drawingml/2006/main">
            <a:pPr algn="l">
              <a:defRPr sz="12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美股接入</a:t>
            </a:r>
          </a:p>
          <a:p xmlns:a="http://schemas.openxmlformats.org/drawingml/2006/main">
            <a:pPr algn="l">
              <a:defRPr sz="12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实盘交易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65FDF6-4F51-4093-B4DA-D2E45CE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D0490C-CBC1-41C7-B1ED-C4AE3D3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08276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2876AF8-6AE8-43DC-BF9C-3D530411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877ED2-09E4-4375-9074-696F2B45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39C275-46EC-4C18-85C0-5E0D80D1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7DB94-A351-46C8-AF19-96FDACF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一套分层架构，把交互、数据、计算与模型连接起来。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63747-2E2E-4C94-9FCB-BED86EAB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外部依赖被隔离在服务层，前端只面对稳定 API。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7E105-F385-497B-949C-3427A4F9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1AF9F-8B40-485E-BF9C-5B15970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6192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7E2C8-65B6-41C9-BBF6-964E3896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7AE4C-AFB5-43D2-9D66-6986D0A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408C2-3014-48E4-97C2-9A06D158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29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登录 / 行情 / 回测 /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3F521-2383-4371-97EA-1900EF2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479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EA849-B249-4954-8C57-A2C794E2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526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FFD50-235D-40BE-8482-9C148BE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18097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AE597-7D7A-45CF-AA58-6F82114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7DC73-4761-4C60-92B3-351DF43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Vue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2F9B0-E675-4803-BF09-E0ABA37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1485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ECharts · Router · API 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A9263-D552-4207-AC8D-D7444BA5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C5B8C-199F-4A95-9898-2E8DCC86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6804C-97AA-4BD8-AC7D-2D0EDD28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18478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6C6F7-A034-47E2-8031-0659CC15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27B9C-D891-455B-8A47-FD12001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FastAPI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94AC2-793D-47C5-A352-C2DA3D7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52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Auth · Market · Backtest ·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E6470-6EF1-4F5D-9FB0-36A4D9FD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D3A92-9659-41E5-A04C-5B532A21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DOMAIN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0DC6A-865B-4A78-9D56-9DE0D6B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7907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058E4F-52B7-4FA4-B84C-331C32B8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AF8493-0F48-4936-83F9-685AEDD5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Market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0C43E-C53D-4D68-8C44-697662CC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46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拉取 · 归一化 · 缓存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B2810-B685-42DC-A9AC-6F436117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7907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0612A-0A01-460A-8189-38FA50AA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A5F782-2D47-4516-80C6-1B883494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Backtest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343143-69E8-4713-9658-FB90045B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146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策略 · 撮合 · 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723C4-F344-4C8E-841A-339CC1E3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17907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9E898-828C-4C21-AE9D-F7443392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FFCC09-E8E6-46C0-8BE6-6E511664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553FD8-CB5D-4EC4-B406-957A3F64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146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上下文 · Provider · 持久化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5E1A9E-2BB3-4242-8FAA-F836555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DATA / ENGINE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2006D-D366-483D-869A-32850824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2000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AC8E3D-360D-4F87-AD0F-D66B6933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55C774-995B-45EB-AEFD-22CB355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167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SQLite + Alembic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E19392-6E06-4720-A02F-9ECADF2D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用户 · K线 · 回测 · 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03B916-5EBE-4B7E-9B9B-B6B8030E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33750"/>
            <a:ext cx="2000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12EE8F-2F61-4773-AF57-4C99F7E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337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EA4252-8CBA-42BD-A95E-7908365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48050"/>
            <a:ext cx="167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Quant Engine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CBD700-D3B9-4D16-823A-01B51523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逐 Bar 事件驱动执行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E05CFA-547C-4955-B325-4743F84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67200"/>
            <a:ext cx="2000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98788D-DADE-4947-94FC-DE80490A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67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E03154-7787-4890-A3C6-83D486F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81500"/>
            <a:ext cx="167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Provider Boundary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A54427-6ACC-43A6-848B-26E1A0A1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2915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Binance REST · Gemini · OpenAI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3C1028-4B09-49A3-BB22-CFB5183B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3AF555-240D-47A4-9BF7-7ADDB71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27CF87-11D6-45C8-A566-04C86824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3865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0491D1-8D04-44F0-86A1-8F655B7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4"/>
          </a:solidFill>
          <a:ln xmlns:a="http://schemas.openxmlformats.org/drawingml/2006/main" w="0">
            <a:solidFill>
              <a:srgbClr val="29455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9D9CF9-ACFD-4480-B53E-4EAC8B3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关键边界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2B455C-8B80-4624-B4A8-6FB779C0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721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前端不直接访问交易所或模型；服务层统一鉴权、错误处理、数据落库与回退。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36BFAA-C79B-4CA5-BDE6-FCFDEA18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2457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可替换外部 Provider，而不改动研究工作流。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491BBD-01F1-4A21-896A-84F1460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2EA612-4FB9-4098-BC13-AED20818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34150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Source: repository architecture and service modules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39DBC3-5C53-409A-AE59-7E2B60AD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01159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B1BC3E4-9A84-4FA6-A184-A861D097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3163F8-2EF4-4A7F-A0EB-E535E5E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8A641E-13F1-42E2-B359-C4A77951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REAL-TIME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ADF9B-454E-4183-9858-2AA9DD95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715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当前 K 线先经过校验与持久化，</a:t>
            </a:r>
          </a:p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才进入图表和回测。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07FBB-B6A5-4AAC-8F21-036FB00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这解决了“日线只有一根”和历史数据停留在 2024 年的问题。</a:t>
            </a:r>
          </a:p>
        </p:txBody>
      </p:sp>
      <p:sp>
        <p:nvSpPr>
          <p:cNvPr id="6" name="freshness-proof">
            <a:extLst xmlns:a="http://schemas.openxmlformats.org/drawingml/2006/main">
              <a:ext uri="{FF2B5EF4-FFF2-40B4-BE49-F238E27FC236}">
                <a16:creationId xmlns:a16="http://schemas.microsoft.com/office/drawing/2014/main" id="{FD912518-6975-424D-B0C6-DC561A62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2686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189F6-ACAC-4495-8E4C-BE7B4D4B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858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LATEST STORED K-LINE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8EEC4-85A6-4986-8F9E-0F33283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715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2026-06-15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7170F-D3FD-45BB-9A22-DD8DA97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62075"/>
            <a:ext cx="2114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7B0"/>
                </a:solidFill>
                <a:latin typeface="Avenir Next"/>
                <a:ea typeface="Avenir Next"/>
                <a:cs typeface="Avenir Next"/>
              </a:defRPr>
            </a:pPr>
            <a:r>
              <a:t>02:56:00  ·  3,992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4B4E3-803F-4992-988D-4C49024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0F292-91DF-4515-A790-4AE74E08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6764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F0B73-E5C4-4FE3-8C8C-4AB1181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请求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84E40-2F38-4037-A9CD-D732878C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symbol / interval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limit / time 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9D974-DE64-4849-9080-43482675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03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07382-8F77-47B5-BD6A-2CB15A6E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6764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4D9A2-07FB-4E0E-BBCF-16DC483A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956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拉取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0C441-5B0F-47B5-A03E-085FC985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Binance REST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代理环境兼容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BDB91-4448-4FE1-8E1B-A046B9F2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786AC-F0FB-4E1B-BFF3-3F4CE147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16764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BC32A-C133-40C6-AA09-F2F3390E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归一化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E33F9-C17B-48C9-B980-7B4F9F7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时间戳 / OHLCV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按周期排序去重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F7E09-6A06-4D58-BA9E-5C5EDA7D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702F4-63A7-49E6-89B2-F8AA1525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16764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7362C-5753-4D1A-AFE4-7ADBED50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存储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632BF-221F-40F9-AF01-33CEF914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market_klines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SQLite 持久化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7CD60-D16B-4319-B164-5B6FD775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C0004-0C0D-439D-8E46-EE6E171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16764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84455-8680-4796-B67B-E68292C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消费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8780B-E733-4047-ABE1-4C7F4E33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9570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实时观察图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回测时间选择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8B81A-6F28-4BEA-A9B6-B7B649CF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400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B3DE7-43B8-438B-AF9E-E697796F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76625"/>
            <a:ext cx="400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90A813-E9A8-4599-B1DE-3192A2E7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76625"/>
            <a:ext cx="400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7FA63D-DBDC-41D9-AF6D-5F9DFFD4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76625"/>
            <a:ext cx="400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15A9B6-9632-47E4-8733-8D5DB8C7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25A836-40E6-44A4-83A3-55E31ED7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健康检查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113795-F8B3-413E-96F2-7FB49A55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363C11-ECFB-4F3C-BDF7-8FBA204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57775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时间有序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D4B13A-E7B7-4198-A484-9C8FD7F1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01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B3CC99-66B1-4EB6-845D-795A043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57775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去重入库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68CE8C-2EC9-43FA-8321-2FD8A069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EE7594-AAA0-4E99-8351-4E514F1D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57775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周期可切换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187BAA-8626-4723-AE23-0A051650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22F632-8D98-4075-B998-E4D26753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57775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刷新可观测</a:t>
            </a:r>
          </a:p>
        </p:txBody>
      </p:sp>
      <p:sp>
        <p:nvSpPr>
          <p:cNvPr id="44" name="fallback-note">
            <a:extLst xmlns:a="http://schemas.openxmlformats.org/drawingml/2006/main">
              <a:ext uri="{FF2B5EF4-FFF2-40B4-BE49-F238E27FC236}">
                <a16:creationId xmlns:a16="http://schemas.microsoft.com/office/drawing/2014/main" id="{B0180478-8C22-49F1-9870-F6B71E6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3632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D5E010-3E3C-4BD0-A0C5-C48FEFB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91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演示预案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326DB3-9885-4194-8276-274EB13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24525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外部行情临时不可用时，优先使用已入库的最新数据；页面必须明确显示来源与更新时间。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639E93-9277-4991-ADC6-B95DEBC7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284FF7-4B48-446C-8775-93CB6BA3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34150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Source: market_data_service + local SQLite preflight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CFBE1D-8605-4F70-A254-A99974EA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25430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53AEFE4-2B1F-4513-BDE9-736F83A5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2FDD2E-0DA8-4285-A060-3739D754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5F176D-6A6A-4F7F-9E5F-80A333DB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BACKTEST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52A9F-3A57-4DDF-A0F2-697C552D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逐 Bar 推进，让策略信号看不到未来数据。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0241C-F83D-4F54-A18E-9CAB38F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同一套执行链支持不同周期、时间段和初始资金，结果统一落库。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DA162-04E2-4B46-ABF4-1844AA23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EVENT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69726-5FAC-4E9B-A015-93E82D2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670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A97E0-BB8C-4BC4-9A2A-A932DC7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70B52-A5FF-4386-8D8A-E5CF58BB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670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B668C-8898-4D15-B8FD-9FE327E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670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BAF8E-48CC-42A1-AA5E-E0753BBA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670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6B307-9283-4AED-BA1E-36D9559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04ED5-572D-45AD-9D70-EBB36DE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读入当前 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EF9C8-0E74-4BC8-BF39-B11BB144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5760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策略计算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D4C0B-07BF-450D-AE1F-5EACF65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生成信号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DB3E0-9752-49B6-9776-59F10AD2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5760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撮合交易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B3F56-74C8-47C0-83CF-F1730A5C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更新净值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65EEA-E698-459F-BC56-76ADC3B0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只暴露 t 时刻数据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CC45C-3927-411D-B064-168BE650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71925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MA / RSI / 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61C2F-FC3E-4C4D-B443-D343311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buy / sell / 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FF6AE-2269-408C-82BF-0C9278A4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71925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仓位 / 手续费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39FB4-FD7C-433C-AE5A-56621F15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收益 / 回撤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31B95-03FC-454B-BACE-A797972E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33725"/>
            <a:ext cx="342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4" name="metrics-output">
            <a:extLst xmlns:a="http://schemas.openxmlformats.org/drawingml/2006/main">
              <a:ext uri="{FF2B5EF4-FFF2-40B4-BE49-F238E27FC236}">
                <a16:creationId xmlns:a16="http://schemas.microsoft.com/office/drawing/2014/main" id="{F3F43E78-164A-483D-B260-1EE70311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6385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0C633-1DB8-4397-9257-0D1A3B7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UNIFIED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B203C-390B-4BB6-B505-1BFCE85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总收益率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8DCB1-FA8D-480C-830A-5449A3D7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03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风险收益结果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8381D-BB4C-402E-AFDB-C4730D9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756"/>
          </a:solidFill>
          <a:ln xmlns:a="http://schemas.openxmlformats.org/drawingml/2006/main" w="0">
            <a:solidFill>
              <a:srgbClr val="2A47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794F6-8C69-4609-9F02-8D42E55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最大回撤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57A7AE-5175-4BD3-966A-906A90C2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9090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75A5A"/>
                </a:solidFill>
                <a:latin typeface="PingFang SC"/>
                <a:ea typeface="PingFang SC"/>
                <a:cs typeface="PingFang SC"/>
              </a:defRPr>
            </a:pPr>
            <a:r>
              <a:t>风险暴露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E9CC06-8769-4A7D-9177-EC3D2C2D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756"/>
          </a:solidFill>
          <a:ln xmlns:a="http://schemas.openxmlformats.org/drawingml/2006/main" w="0">
            <a:solidFill>
              <a:srgbClr val="2A47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F2F496-60CD-4D5C-AD37-0000C76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Sharpe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BBBAE1-E33A-4C9B-8940-C633ECCE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1695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风险调整后收益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C23EAF-1990-4BDB-965A-0067BCA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756"/>
          </a:solidFill>
          <a:ln xmlns:a="http://schemas.openxmlformats.org/drawingml/2006/main" w="0">
            <a:solidFill>
              <a:srgbClr val="2A475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753AE-437D-484E-A6D8-05385A2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交易明细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5373E8-2E23-4D98-8A5A-39C534E4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时间 / 方向 / 价格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5B5DBB-4AFF-43B7-B8D6-F04E5A6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05B74-68F2-4E38-9DD0-07639E9A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可复现条件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F18B0F-7D08-47EF-8B8F-377710D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10225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策略 + 参数 + 品种 + 周期 + 起止时间 + 初始资金 + 数据快照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DF30F3-85DA-4FDB-95FA-083C930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10225"/>
            <a:ext cx="188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 33 条本地回测记录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7F2838-8299-4178-BF01-7B85777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B518C7-5ADC-47BE-B85E-4B0BB281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34150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Source: quant_engine/backtest.py + backtest service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314ABD-ECC9-4E7F-85CA-8E4C6B7D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8919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DB2CECD-6DA6-4405-ADE8-C12B2966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3AB12E-EF23-4861-8674-0D48117D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8656F2-8C6D-40E1-8EA9-DD2CE8DF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88206-3A71-4A7C-85C1-0CADC93B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23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从观察到迭代，研究人员不需要离开平台。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39394-6C5D-4E47-A21C-A9FF5874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所有关键输入与输出都被保存，演示过程可重复。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ABB90-32EC-4E93-B251-D36086EB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5134A-F9E3-4DB6-B460-E2E225B7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4668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55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EF1C4-8005-4708-902A-6D0BBBE3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BF9DC-511A-4485-B414-03950DC0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注册 / 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064B4-4E30-4E6D-A13E-3C4C923E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JWT 鉴权</a:t>
            </a:r>
          </a:p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独立入口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5BA3F-B7E5-4618-A6FB-AC9827DE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527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68577-49B3-4BCE-9D1B-9C7A75B4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57500"/>
            <a:ext cx="14668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55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1D15C-D6EF-478F-A142-23629AB1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575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6A041-6428-423D-ABF4-46207AF9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051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观察行情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0615E-07CB-4751-9442-D1E0453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242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当前 K 线</a:t>
            </a:r>
          </a:p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周期切换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C9B68-6F4C-475E-8216-64A20D0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3EECF-4494-42B4-B826-26B25548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4668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55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02E6F-0F04-4E9C-AD2C-B4BF5658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8ED09-1387-4429-A71A-00778959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设定回测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27DD7-AE58-4511-A7FF-DEE6C7EE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时间范围</a:t>
            </a:r>
          </a:p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资金与参数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8CCBD-075F-4F3E-82BB-20C610F1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C745E-6E90-428E-9D14-EF730787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14668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551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1C16E-F522-42EE-9C69-E47B791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AD27D-011A-4BE5-A0E0-FAFCDA86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查看结果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AFAD5-A7E1-4BB3-AFFA-B2F0BB87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净值 / 回撤</a:t>
            </a:r>
          </a:p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交易记录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DE4AF-AF84-440F-8EE7-333E5678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527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7CB1A-D9B1-46AD-A11B-ED7EBA1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14668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55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7FA81-691B-4B6B-A2DC-78A7991C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A23FB-5ED6-434E-BACD-5BDCE10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诊断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1D727-9607-46F4-B5E0-FB1ADAC2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优势 / 风险</a:t>
            </a:r>
          </a:p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调整建议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A34BC-97F3-4225-B04B-D2D72922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6E74D-7AA0-4C0A-B915-CF00A66A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14668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551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EF5C7-7477-46C9-9E12-6836632C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F59C14-D7E9-4585-AB16-713B6FC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再次验证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BBED6-681F-4D38-BB24-B9C5B6C0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242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修改参数</a:t>
            </a:r>
          </a:p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重跑对比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667B7D-9D84-495A-B479-B71B402F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5755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5FE5A-9F32-471D-A2CC-4DC89F79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5755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5718CF-BE26-46A8-9F02-AD691BE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02047-1795-4973-AA99-0087E1CE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5755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A38E7C-ACD5-4E34-B1CC-AAB394D9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0E7316-B89E-4AD8-95D4-958D5FA5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4"/>
          </a:solidFill>
          <a:ln xmlns:a="http://schemas.openxmlformats.org/drawingml/2006/main" w="0">
            <a:solidFill>
              <a:srgbClr val="29455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9A4BAB-4B45-4F41-BE90-4BB1CB8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ITERATION LOOP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9822E0-744B-4723-9E81-61AE42B3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建议不是终点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D73D55-1940-4056-906D-489D4815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67325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0C0C6"/>
                </a:solidFill>
                <a:latin typeface="PingFang SC"/>
                <a:ea typeface="PingFang SC"/>
                <a:cs typeface="PingFang SC"/>
              </a:defRPr>
            </a:pPr>
            <a:r>
              <a:t>建议必须回到新的时间段、周期和资金规模中重新验证。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3547DD-A448-4DE3-BA24-AFFD1CAF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10150"/>
            <a:ext cx="14668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445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D0F4F3-61E4-4D69-B146-578090D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72075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RE-RUN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8AF6C-22D1-4395-996F-A8EF37FB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可验证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C139B-312D-4AD6-8F15-80083A3A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F8189A-1C09-47B4-90B2-428F195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9220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EB45681-2243-4A7D-8CEA-8D74EE2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41ADA9-2341-4DFF-9767-1E3A802D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4AE779-4A70-4CC6-9C68-E9E2B7C1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AI INNOVATION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F2252-143A-4EC8-90E9-6AE11C0A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620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只有读取结构化证据，才能给出可审计的建议。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42079-3A3F-45F6-9441-3F2FCE4D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项目支持 Gemini、OpenAI 与本地规则引擎切换，并保留回退原因。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70CF2-9AE9-4C13-94CE-6CAB8EFB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01  STRUCTURED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6D2F3-E7A6-4186-A83B-0F792C77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857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55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82990-0FEC-4AC5-A4B8-24FD00CC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回测元数据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B2976-910F-4679-B98D-CF96F09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品种 · 周期 · 时间段 · 初始资金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F13ED-2387-46CB-85B4-601B9A1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2C04A-D15D-433F-8701-C363F3DB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绩效证据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9578E-AA80-4B11-A8EF-7AA425BE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收益 · 回撤 · Sharpe · 胜率 · 交易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3B07A-2A9C-4536-B9D3-6016A9AC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939EA-F4AD-4827-84BE-6AB03C71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输出约束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AD342-E353-4E4B-A1F6-C851F79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236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score / strengths / warnings /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D77BE-845B-448E-927C-62AD7D48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457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5810A-F591-4C63-B7B0-45D9EC1F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02  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9D659-9692-400D-BFD4-FD5564E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71750"/>
            <a:ext cx="32194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73445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F0D01-9684-414C-B91F-220F3BD2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2647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29EDB-85A8-462F-B18F-081AC384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gemini-3.5-flash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F209D-0E40-45EC-AE60-75D64FC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241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63"/>
          </a:solidFill>
          <a:ln xmlns:a="http://schemas.openxmlformats.org/drawingml/2006/main" w="0">
            <a:solidFill>
              <a:srgbClr val="3854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6447B-24D1-40D7-9B2B-67E1724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OpenAI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E61A4-41FB-434C-BE9B-F0C3103A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052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Local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4B816-BE36-4181-87F6-6BF10CB7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可切换 · 超时回退 · 原因可见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E511A-4C14-46DA-96E7-5A462F66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457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068AF-407D-4883-A4D4-AC1FE27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257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03  PERSISTED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BF314-7B01-4275-9730-0A182DEE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7528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0A049-A9BB-42B4-A403-8230958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1581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35 / 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170797-AFD2-4C70-866D-3018D62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confidence 85%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560032-0574-4598-A67B-C332BDB1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1C730-A92B-45C1-8202-E3B83FA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优势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F1E05-4783-4CBB-82D0-7A2BBD6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766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2 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0FAF81-F6E7-4042-A062-385556D8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5A5A"/>
                </a:solidFill>
                <a:latin typeface="PingFang SC"/>
                <a:ea typeface="PingFang SC"/>
                <a:cs typeface="PingFang SC"/>
              </a:defRPr>
            </a:pPr>
            <a:r>
              <a:t>风险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281A7F-A5E5-42FB-ABCF-AFA1F46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005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3 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FDA083-0801-47BE-A071-1CC710C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243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建议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5324E1-5297-4A58-90F5-E482800A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3243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3 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48002E-8CA1-4CE6-B404-809ED2AC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3219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与回测 ID 关联并保存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83D7B-3F0A-4A51-97BB-2BB22212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A"/>
          </a:solidFill>
          <a:ln xmlns:a="http://schemas.openxmlformats.org/drawingml/2006/main" w="9525">
            <a:solidFill>
              <a:srgbClr val="294A5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3B1AF0-A71B-41F5-8401-9FA8E85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308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创新点不在“调用一次 API”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B4D287-0CDA-48BF-8697-2FF827D7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34025"/>
            <a:ext cx="737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而在于结构化上下文、严格输出协议、结果持久化、Provider 可替换与失败回退。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9B1134-6C53-41B2-8F49-5C750619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8398CF-5D90-461D-8E9C-31FCC0D4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34150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Source: ai_analysis_service + persisted Gemini result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8F4A18-C2AA-416C-938D-309C2F69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71539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A9F906F-E360-44E1-BC5E-17C49AA0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18BD3E-D3EC-4EF9-817F-19E2C84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87EEB2-D3FF-4D7F-A6D2-6B0E153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REAL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CFB8D-0B5A-4245-BDB7-E870C3A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负收益案例，恰好说明 AI 诊断比“报喜”更有价值。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6E0D0-3E52-4985-90D5-260464B5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933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BTCUSDT · 1d · MA Cross · 2025-10-12 至 2026-06-15 · 初始资金 10,000</a:t>
            </a:r>
          </a:p>
        </p:txBody>
      </p:sp>
      <p:sp>
        <p:nvSpPr>
          <p:cNvPr id="6" name="ai-score">
            <a:extLst xmlns:a="http://schemas.openxmlformats.org/drawingml/2006/main">
              <a:ext uri="{FF2B5EF4-FFF2-40B4-BE49-F238E27FC236}">
                <a16:creationId xmlns:a16="http://schemas.microsoft.com/office/drawing/2014/main" id="{DB0664AF-6D12-4026-93FF-C79968E3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6479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5BD58-929C-43A1-A5B1-2E854777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GEMINI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7152D-585C-46C4-BA2A-16599532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001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E34E0-5E73-4FB0-9998-E59EC524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95650"/>
            <a:ext cx="83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/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B34C2-14C8-4649-9C29-70E3A559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1E0E9-FA1B-40E8-9307-3AC40215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置信度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0D207-7AB1-4C2A-ABCE-B36B2E52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3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85%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9185E-A66E-4B04-B46A-7A2C4E64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4B9B9-1E79-4214-8D2F-97C250CD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暂不具备稳定性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4B3D8-5F3A-40D4-B2DF-E3FDE02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需要重新验证周期与风险控制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7C97E-7713-4019-8C75-5A828487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BACKTEST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A3A74-8C97-41A4-BBB1-5A3B86D8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1657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-7.15%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320F5-5BC8-4F38-BAB8-BE1FFC02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总收益率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049AB-C1C9-49ED-AE5E-6C73965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657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-16.75%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A5080-EF2E-4601-81D3-A169073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7180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最大回撤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E124C-2C56-46E0-B89A-A99DD240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43300"/>
            <a:ext cx="1657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-0.399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3BB4A-862C-4E3E-9DFA-40E0263D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Sharpe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37A00-5C53-4746-AF60-DBB482FA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43300"/>
            <a:ext cx="1657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25%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1A04F-6126-407A-AE67-E0C67FED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433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胜率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67CDD-0AA1-4B3B-9A8B-A4110133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1657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3DEE4-0553-45DC-AFB0-8AB734A7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1490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交易次数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6C48D-94D4-45E5-9CD5-FCEBC21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14850"/>
            <a:ext cx="1657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9,285.45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98B54-965C-4086-957B-FCD0B06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1490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最终权益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C39E1-4A92-44A8-878D-5982521E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29250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AEF1F4-3B12-462F-A50B-9170212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360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这不是失败展示，而是可解释的策略筛选。</a:t>
            </a:r>
          </a:p>
        </p:txBody>
      </p:sp>
      <p:sp>
        <p:nvSpPr>
          <p:cNvPr id="31" name="recommendation-rail">
            <a:extLst xmlns:a="http://schemas.openxmlformats.org/drawingml/2006/main">
              <a:ext uri="{FF2B5EF4-FFF2-40B4-BE49-F238E27FC236}">
                <a16:creationId xmlns:a16="http://schemas.microsoft.com/office/drawing/2014/main" id="{8DDDE20C-B8A2-474B-AB53-14235701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9243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E8BEC-65A9-4EF1-89A4-3BB32EA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AI 给出的调整方向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0B3925-C8E8-4D10-8491-7B929B2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AC8DB2-4204-4044-8C59-FC1E49B1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81325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EE416-EC46-4C89-B45B-6BEEE0F2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895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调整均线窗口，减少震荡期频繁交叉。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D38BA3-3AA6-432D-A0C5-5C7AA15B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76625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E80C13-E0FB-4D31-8731-27C1B19A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8DF680-CAA2-412B-BCAB-BEC1CDB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43325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4549CF-9C41-47AA-8A37-06D44E0C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895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加入趋势或波动过滤，避免横盘阶段入场。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E01AB1-9CAC-4A71-BD99-35367AAE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38625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AB44D7-C703-40E6-B7FA-6C64665C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031D18-8A5D-4C38-9B85-F0E0454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266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DB3AFC-D90E-4D49-92C8-EA07E24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2895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在不同周期、区间和资金规模下做稳健性复测。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6B25E8-BA45-4602-B8E5-FB9D7D89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24450"/>
            <a:ext cx="33147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EAE556-A236-4C0F-AFE7-802BCE55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81600"/>
            <a:ext cx="297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建议 → 修改参数 → 重新回测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30B659-7F4A-4811-AD16-A10FC835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931BAC-D95E-4270-B78A-31894FC4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34150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Source: persisted BTCUSDT backtest and Gemini analysis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FDCCA1-7513-46A6-84AD-372EC46C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74150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5A1B863-7A53-4B1E-BF98-8D142CB1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A7B5A2-7FE2-42B0-AB02-8187FC5C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5C612A-0C61-44ED-89AA-64350E97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ENGINEERING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626E4-31AE-47AE-B1FB-0C8DE223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71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工程化工作，让演示从“能跑”变成“可重复跑”。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06B09-4CEC-47AB-BC24-D0A39216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启动、迁移、鉴权、测试和预检都有明确入口。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2117C-4BC7-4D1D-9927-0AE93E04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419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D7747-3EBE-4B03-AEB3-4854D71E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419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9487F-923F-4F38-BC6E-0CE5BAD8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安全入口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906ED-629F-4395-AC94-A25AC71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962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JWT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71138-CD0E-4D65-9235-35F52FEC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0794C-C59B-4C65-9A89-7BA1FD02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962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独立注册 / 登录页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受保护业务路由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演示账号可预置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CCB35-BEA8-4386-8B8B-C9858F0D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90800"/>
            <a:ext cx="2419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38E41-6243-419F-A1E8-71CB970E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90800"/>
            <a:ext cx="2419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A1923-72E3-4774-A3EF-C65CD31E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575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数据治理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E81E1-08D4-43F3-BA9B-F852E581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962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3 migrations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C2301-320F-4FB2-9EEC-8D7687B0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A5E15-3314-438E-8E61-28CDBB4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962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Alembic 管理表结构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K 线 / 回测 / AI 结果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本地数据可追溯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D5F0D-FDC6-4A9A-A81B-847F0A3C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419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3309E-0C38-44FA-8CEE-8FEF676E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419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E1C81-01A3-4823-8B43-3E1FDAFE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一键演示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128B5-620F-461A-8707-2737EFEB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962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3 scripts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A5461-C49B-4FB3-A506-282F56F4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98C26-EA72-4E06-B798-D892D469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962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demo.sh 启动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check_demo.sh 预检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stop_demo.sh 清理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227AD-53FE-4EE9-8A08-B121086C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419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B2D43-2031-47A0-973C-089F862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419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9ABF1-6286-4A4C-AF47-4524AD8B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质量验证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ACA9E-034E-44B7-86D1-8F4BEAE7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1962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16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0967A-36BF-442E-9B67-FA16CED8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4"/>
          </a:solidFill>
          <a:ln xmlns:a="http://schemas.openxmlformats.org/drawingml/2006/main" w="0">
            <a:solidFill>
              <a:srgbClr val="CAD5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CF9F1-F176-48C6-ADAA-8CC31D33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1962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后端测试通过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前端生产构建通过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Shell 语法检查</a:t>
            </a:r>
          </a:p>
        </p:txBody>
      </p:sp>
      <p:sp>
        <p:nvSpPr>
          <p:cNvPr id="30" name="preflight-output">
            <a:extLst xmlns:a="http://schemas.openxmlformats.org/drawingml/2006/main">
              <a:ext uri="{FF2B5EF4-FFF2-40B4-BE49-F238E27FC236}">
                <a16:creationId xmlns:a16="http://schemas.microsoft.com/office/drawing/2014/main" id="{47F73585-4460-4476-B1AB-36C558C2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53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EB77E3-534F-4F09-966D-46102B9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PREFLIGHT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FBE5D-65F6-4621-9D3C-E6484EBD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4357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Backend 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A603E6-9E5D-43F6-AA99-EE97449F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4357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Frontend 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F2FE43-C697-45E8-AAB6-A4A56D5B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43575"/>
            <a:ext cx="87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DB 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083F3-87FD-4EC6-9CD8-C81E2E50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43575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Gemini configured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A0687-3BE7-45D9-95D0-EFC8921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4357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Data fresh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E3AE82-2CF8-48B2-A2AA-DEEDE4C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05475"/>
            <a:ext cx="102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READY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6CEC4B-5180-4E37-991A-FA3F8512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64F0F-D59D-48A8-A157-A32B2670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34150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Source: demo scripts, migrations, tests, and build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177681-C619-461C-8E1D-316C52D9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1704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4E60BFD-02B3-457F-B3A0-0036320E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33E349-6542-4A4F-AD90-C659F02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F66CBB-DC8F-4CAF-BCFC-E285982C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76FE8-262A-49C9-A592-02AC4506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课程演示已经就绪；生产化仍有清晰边界。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7CC61-42B0-4B45-8905-462A8F6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7B0"/>
                </a:solidFill>
                <a:latin typeface="PingFang SC"/>
                <a:ea typeface="PingFang SC"/>
                <a:cs typeface="PingFang SC"/>
              </a:defRPr>
            </a:pPr>
            <a:r>
              <a:t>当前版本足以完整讲清需求、实现、创新点与验证结果。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57FF0-5273-4DD5-AF58-8A3278DB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READY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9FB85-38B4-4CC3-B819-8DD24AE3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972050" cy="2724150"/>
          </a:xfrm>
          <a:prstGeom xmlns:a="http://schemas.openxmlformats.org/drawingml/2006/main" prst="roundRect">
            <a:avLst>
              <a:gd name="adj" fmla="val 2098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F6FA0-155C-42A5-ABEA-0566FED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C5057-99C7-468C-95A3-E063D456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940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实时 K 线观察与存储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52226-E91D-44F2-8EEC-4CC83F14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3334E-B349-49BD-92E2-BE1163A2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6B995-201C-47C3-A01B-EEB8165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多周期、多区间、多资金回测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9C752-7D39-41B6-9969-385567E8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74A4F-90D8-47E4-8FEB-EB44833B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750B9-F778-46F5-87B0-4D1A8984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Gemini / OpenAI / Local AI 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AC86F-5847-462B-9F3F-0CF253EB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7"/>
          </a:solidFill>
          <a:ln xmlns:a="http://schemas.openxmlformats.org/drawingml/2006/main" w="0">
            <a:solidFill>
              <a:srgbClr val="2B48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81CE8-D09F-44FF-9B4B-D16824D0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7BD4F-0CC7-4BB5-86DE-2FB0E6AA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一键启动、预检、报告与答辩稿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5DE65-2A6F-4EE9-BCE4-C2F5BA7F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NEXT STAGE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C182D-8C08-4411-9C82-B2B5CC29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5524500" cy="2724150"/>
          </a:xfrm>
          <a:prstGeom xmlns:a="http://schemas.openxmlformats.org/drawingml/2006/main" prst="roundRect">
            <a:avLst>
              <a:gd name="adj" fmla="val 2098"/>
            </a:avLst>
          </a:prstGeom>
          <a:solidFill xmlns:a="http://schemas.openxmlformats.org/drawingml/2006/main">
            <a:srgbClr val="173445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DF530-CF8F-40D0-AA64-7AAB951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演示之后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8B42F-92F3-49D8-905A-2C9186E5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异步任务队列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EF675-2C98-45CE-B33C-DD0EA8F8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C0C6"/>
                </a:solidFill>
                <a:latin typeface="PingFang SC"/>
                <a:ea typeface="PingFang SC"/>
                <a:cs typeface="PingFang SC"/>
              </a:defRPr>
            </a:pPr>
            <a:r>
              <a:t>长回测与 AI 请求进入 Worker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CF7FD-F970-44E5-87C3-3FB33D9E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定时数据同步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AF314-F26E-42C9-B079-5FCD936D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C0C6"/>
                </a:solidFill>
                <a:latin typeface="PingFang SC"/>
                <a:ea typeface="PingFang SC"/>
                <a:cs typeface="PingFang SC"/>
              </a:defRPr>
            </a:pPr>
            <a:r>
              <a:t>调度、重试、监控与告警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A8DFD-468A-46D1-902E-A72E8A1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研究稳健性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F7122-D007-4FD8-8817-452A45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C0C6"/>
                </a:solidFill>
                <a:latin typeface="PingFang SC"/>
                <a:ea typeface="PingFang SC"/>
                <a:cs typeface="PingFang SC"/>
              </a:defRPr>
            </a:pPr>
            <a:r>
              <a:t>样本外、滚动窗口、参数敏感性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EF1A9A-4816-4EC3-B3BA-9F7581F9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生产安全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AAF51-8609-44AA-88BE-F310ADD6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C0C6"/>
                </a:solidFill>
                <a:latin typeface="PingFang SC"/>
                <a:ea typeface="PingFang SC"/>
                <a:cs typeface="PingFang SC"/>
              </a:defRPr>
            </a:pPr>
            <a:r>
              <a:t>密钥托管、审计、限流与 SLA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F05EBB-F442-4553-94DC-D7D136F3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4"/>
          </a:solidFill>
          <a:ln xmlns:a="http://schemas.openxmlformats.org/drawingml/2006/main" w="0">
            <a:solidFill>
              <a:srgbClr val="29455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C02D18-C86E-4AD8-9DA7-C2D0A7C3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结论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E140A7-AAAC-44E5-94AB-AC8FBAF6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05500"/>
            <a:ext cx="895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它已经是一个可验证的量化研究平台原型，而不再是一段孤立代码。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71ABE5-A444-4CCB-83C6-64AEFB0C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0"/>
            <a:ext cx="1162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谢谢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3449B2-DCBD-440D-B2CC-55BA0B04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EE830B-8A8E-4920-8736-ECA0E59B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5275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2026-06-15T05:19:01.5530000Z</dcterms:created>
  <dcterms:modified xsi:type="dcterms:W3CDTF">2026-06-15T05:19:01.5530000Z</dcterms:modified>
</coreProperties>
</file>